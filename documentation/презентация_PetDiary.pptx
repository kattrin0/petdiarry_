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73" r:id="rId5"/>
    <p:sldId id="271" r:id="rId6"/>
    <p:sldId id="261" r:id="rId7"/>
    <p:sldId id="269" r:id="rId8"/>
    <p:sldId id="259" r:id="rId9"/>
    <p:sldId id="263" r:id="rId10"/>
    <p:sldId id="264" r:id="rId11"/>
    <p:sldId id="276" r:id="rId12"/>
    <p:sldId id="275" r:id="rId13"/>
    <p:sldId id="265" r:id="rId14"/>
    <p:sldId id="27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A48B3-C382-F977-EE87-A6E2C739D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C1A237-02AC-947C-6DAF-0E363A6BB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3245C9-7E2C-A2B8-B212-0DDBFB67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0DCF8B-E7E1-4A17-8D7B-8CC8D584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8B4D6C-5FEE-E013-CF65-66A1F8ED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857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43433-8272-D9B7-5D0C-E299B10C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8CDC1E-64A0-EA5F-C752-2DA607D5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A18BCE-00A2-4F01-AE7C-0306A932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48555F-7F8A-E8B3-983F-956DC931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F96DBB-B677-809A-233C-EB152E1C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8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DBF3A-F132-392C-FA35-487F216A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1F4EAF-F320-9A55-1BFE-4DBE3E427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88BBC-6663-2C06-7C05-169D791D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C16CA6-F1D0-DCDA-B862-9F42EC1D3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D0E1D-19EB-D708-3C1B-EF8B399F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89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72031-8796-0C01-772A-3D0DD392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19E7B8-915B-66BA-25E6-FA0484EF1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BD8A29-13EA-1372-DBF6-B405DDDB3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EDCCAF-2099-EA52-A954-30F72F9A9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CC8356-EE08-1E6D-E6CB-C923FC15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9C7A08-853F-0C7C-0915-FFCA8852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28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F6E07-AFCD-7F0E-D86E-4B72BE79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657808-88B5-05EC-BDC9-5B28605EE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66BB6-ADE8-5216-4893-DE34C0DBA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3C9A89-D1BB-B1EB-1F5C-EB5EE6693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44516A-F7E1-525D-819A-4974F79FE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197D4C-91AA-C522-52C0-41A357DA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6401A80-AC1A-BDD9-2EC1-D48AA09E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D4EC6A9-F921-476C-86F3-C7ED146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53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2C984-9224-6769-9A0C-4FCBA531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988E95-BEED-16CD-833F-F7B6657B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12A9F0-3D97-18F9-E926-4F207AD6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62F947-8703-D2DB-717C-10689DDE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72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C05E9C3-8E7A-07B7-CF91-76CE6C56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324958D-D4AB-9CFC-D660-14A98FD1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96DA6D-203A-C648-3A55-6AE86BA7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95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10544-93FA-70D2-8B7E-614A7E1C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E01A4C-D35C-BFAD-9395-5AA8C4B0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5E02E3-EFFB-51E5-32C5-30FD3DFE3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CF0F45-1794-33DC-D492-664BF0CC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A52760-625B-47F9-3A34-910BED54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9A077C-BDC4-71AC-2E6C-774A8C3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64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83F90-E9CD-2789-9992-3F9A6D8E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DD6447-C272-D5E5-442C-994CB28BD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986326-9FEC-1806-54FC-A5FBE077E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7544DD-8418-626B-031D-779F4813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DA7A51-4AAE-D732-41E8-570B1FF2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740E89-651E-8394-0ABD-32F31A38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7CFB2-0419-819E-932A-F0BD67D2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722964-8877-8938-1EC2-18E9B384C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4FA1D6-311D-D23E-AA0F-0083642C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F1DC1F-3D16-4D07-B631-22AC9BE1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1F446-451D-0959-835D-C5C65398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1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9B7A16-F4AE-D9FA-4DC7-A87F887DE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EFF82F-50ED-E715-46CD-5B5311BA6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53F89B-C212-3C57-4885-A6E8825C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EF0069-4B24-D152-6851-59685AD0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F378A-17DF-A45A-49DB-2827CF30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39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EA91-9C58-87EA-E5DC-C5C15B98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CF164B-2035-C98F-9F9B-4DD4AAE19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FAFC64-E5DC-A85A-D24D-1B9F9BE31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0BFC-4C86-4A7E-9030-5F942040A976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F72232-9698-F480-2DB9-DB789F35B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0D97B2-8250-5887-092A-117F949EC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9C224-78EF-4D56-AAA4-6FD9F39CD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6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909FDF-C3F4-B8C7-8219-ACAB6E75C323}"/>
              </a:ext>
            </a:extLst>
          </p:cNvPr>
          <p:cNvSpPr txBox="1"/>
          <p:nvPr/>
        </p:nvSpPr>
        <p:spPr>
          <a:xfrm>
            <a:off x="1416186" y="3189774"/>
            <a:ext cx="9359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владельцев домашних питомцев «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PetDiary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5A4FD-A72A-6DF0-A1CA-0B51C8D5F4A8}"/>
              </a:ext>
            </a:extLst>
          </p:cNvPr>
          <p:cNvSpPr txBox="1"/>
          <p:nvPr/>
        </p:nvSpPr>
        <p:spPr>
          <a:xfrm>
            <a:off x="645695" y="228676"/>
            <a:ext cx="1142999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80E46-2CFB-DA4C-9229-298B71126795}"/>
              </a:ext>
            </a:extLst>
          </p:cNvPr>
          <p:cNvSpPr txBox="1"/>
          <p:nvPr/>
        </p:nvSpPr>
        <p:spPr>
          <a:xfrm>
            <a:off x="1074822" y="1789943"/>
            <a:ext cx="1057174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Кафедра программирования и информационных технологий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FCE6F-AC5F-63A8-D705-E83276E1119D}"/>
              </a:ext>
            </a:extLst>
          </p:cNvPr>
          <p:cNvSpPr txBox="1"/>
          <p:nvPr/>
        </p:nvSpPr>
        <p:spPr>
          <a:xfrm>
            <a:off x="6360695" y="5828259"/>
            <a:ext cx="599974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асс. Ушаков В.А. </a:t>
            </a:r>
          </a:p>
          <a:p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Выполнила: ст.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3 курса Аверкиева  Е.А.</a:t>
            </a:r>
          </a:p>
        </p:txBody>
      </p:sp>
    </p:spTree>
    <p:extLst>
      <p:ext uri="{BB962C8B-B14F-4D97-AF65-F5344CB8AC3E}">
        <p14:creationId xmlns:p14="http://schemas.microsoft.com/office/powerpoint/2010/main" val="149798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5">
            <a:extLst>
              <a:ext uri="{FF2B5EF4-FFF2-40B4-BE49-F238E27FC236}">
                <a16:creationId xmlns:a16="http://schemas.microsoft.com/office/drawing/2014/main" id="{67A848F3-67EA-3333-E301-0F05CF4E9B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72;p5">
            <a:extLst>
              <a:ext uri="{FF2B5EF4-FFF2-40B4-BE49-F238E27FC236}">
                <a16:creationId xmlns:a16="http://schemas.microsoft.com/office/drawing/2014/main" id="{9C64A2A7-B6C5-28A6-3F05-0DB17A78DFAF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Постановка цели: </a:t>
            </a:r>
          </a:p>
        </p:txBody>
      </p:sp>
      <p:sp>
        <p:nvSpPr>
          <p:cNvPr id="5" name="Google Shape;73;p5">
            <a:extLst>
              <a:ext uri="{FF2B5EF4-FFF2-40B4-BE49-F238E27FC236}">
                <a16:creationId xmlns:a16="http://schemas.microsoft.com/office/drawing/2014/main" id="{E5B9E51E-39B4-5449-36B9-394F732430CD}"/>
              </a:ext>
            </a:extLst>
          </p:cNvPr>
          <p:cNvSpPr txBox="1"/>
          <p:nvPr/>
        </p:nvSpPr>
        <p:spPr>
          <a:xfrm>
            <a:off x="1679706" y="1423226"/>
            <a:ext cx="101820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Основной целью проектной работы является разработка мобильного приложения «</a:t>
            </a:r>
            <a:r>
              <a:rPr lang="ru-RU" sz="2300" b="0" i="0" u="none" strike="noStrike" cap="none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Pet</a:t>
            </a: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ru-RU" sz="2300" b="0" i="0" u="none" strike="noStrike" cap="none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Diary</a:t>
            </a: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» для учета и планирования событий, связанных с домашними питомцами</a:t>
            </a: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3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74;p5">
            <a:extLst>
              <a:ext uri="{FF2B5EF4-FFF2-40B4-BE49-F238E27FC236}">
                <a16:creationId xmlns:a16="http://schemas.microsoft.com/office/drawing/2014/main" id="{608DF779-924B-924D-2DCC-2BC7DF95D6CF}"/>
              </a:ext>
            </a:extLst>
          </p:cNvPr>
          <p:cNvSpPr txBox="1">
            <a:spLocks/>
          </p:cNvSpPr>
          <p:nvPr/>
        </p:nvSpPr>
        <p:spPr>
          <a:xfrm>
            <a:off x="1032960" y="3216145"/>
            <a:ext cx="8202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проекта:</a:t>
            </a:r>
          </a:p>
        </p:txBody>
      </p:sp>
      <p:sp>
        <p:nvSpPr>
          <p:cNvPr id="7" name="Google Shape;75;p5">
            <a:extLst>
              <a:ext uri="{FF2B5EF4-FFF2-40B4-BE49-F238E27FC236}">
                <a16:creationId xmlns:a16="http://schemas.microsoft.com/office/drawing/2014/main" id="{7A89CA2D-E635-0F6C-8813-D8A75ABC77D4}"/>
              </a:ext>
            </a:extLst>
          </p:cNvPr>
          <p:cNvSpPr txBox="1"/>
          <p:nvPr/>
        </p:nvSpPr>
        <p:spPr>
          <a:xfrm>
            <a:off x="1995096" y="4280374"/>
            <a:ext cx="9749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Рост числа домашних питомцев</a:t>
            </a:r>
            <a:endParaRPr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76;p5">
            <a:extLst>
              <a:ext uri="{FF2B5EF4-FFF2-40B4-BE49-F238E27FC236}">
                <a16:creationId xmlns:a16="http://schemas.microsoft.com/office/drawing/2014/main" id="{043A5D87-31B1-CCC6-83E6-B6DAB19A73DD}"/>
              </a:ext>
            </a:extLst>
          </p:cNvPr>
          <p:cNvSpPr txBox="1"/>
          <p:nvPr/>
        </p:nvSpPr>
        <p:spPr>
          <a:xfrm>
            <a:off x="1995096" y="4780454"/>
            <a:ext cx="9749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Цифровизация повседневности</a:t>
            </a:r>
            <a:endParaRPr sz="2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26;p8">
            <a:extLst>
              <a:ext uri="{FF2B5EF4-FFF2-40B4-BE49-F238E27FC236}">
                <a16:creationId xmlns:a16="http://schemas.microsoft.com/office/drawing/2014/main" id="{218E7D53-F081-E7DE-366F-FF7FE49E9B77}"/>
              </a:ext>
            </a:extLst>
          </p:cNvPr>
          <p:cNvSpPr/>
          <p:nvPr/>
        </p:nvSpPr>
        <p:spPr>
          <a:xfrm flipH="1">
            <a:off x="1679706" y="4446794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6;p8">
            <a:extLst>
              <a:ext uri="{FF2B5EF4-FFF2-40B4-BE49-F238E27FC236}">
                <a16:creationId xmlns:a16="http://schemas.microsoft.com/office/drawing/2014/main" id="{FE1FCF10-1351-055C-3ED4-74AD1F583F3B}"/>
              </a:ext>
            </a:extLst>
          </p:cNvPr>
          <p:cNvSpPr/>
          <p:nvPr/>
        </p:nvSpPr>
        <p:spPr>
          <a:xfrm flipH="1">
            <a:off x="1679706" y="4970654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1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5;p6">
            <a:extLst>
              <a:ext uri="{FF2B5EF4-FFF2-40B4-BE49-F238E27FC236}">
                <a16:creationId xmlns:a16="http://schemas.microsoft.com/office/drawing/2014/main" id="{E10D0A06-AE11-8988-8AAC-2531C729CB83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Постановка задачи:</a:t>
            </a:r>
          </a:p>
        </p:txBody>
      </p:sp>
      <p:sp>
        <p:nvSpPr>
          <p:cNvPr id="8" name="Google Shape;89;p6">
            <a:extLst>
              <a:ext uri="{FF2B5EF4-FFF2-40B4-BE49-F238E27FC236}">
                <a16:creationId xmlns:a16="http://schemas.microsoft.com/office/drawing/2014/main" id="{7481854B-8972-06A3-7D42-A41281888A36}"/>
              </a:ext>
            </a:extLst>
          </p:cNvPr>
          <p:cNvSpPr txBox="1"/>
          <p:nvPr/>
        </p:nvSpPr>
        <p:spPr>
          <a:xfrm>
            <a:off x="1407166" y="1647103"/>
            <a:ext cx="10078800" cy="90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Анализ рынка мобильных приложений  для владельцев домашних питомцев;</a:t>
            </a:r>
            <a:endParaRPr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0;p6">
            <a:extLst>
              <a:ext uri="{FF2B5EF4-FFF2-40B4-BE49-F238E27FC236}">
                <a16:creationId xmlns:a16="http://schemas.microsoft.com/office/drawing/2014/main" id="{EA260A50-C7D4-D6C2-6090-3A7ED5539B7F}"/>
              </a:ext>
            </a:extLst>
          </p:cNvPr>
          <p:cNvSpPr txBox="1"/>
          <p:nvPr/>
        </p:nvSpPr>
        <p:spPr>
          <a:xfrm>
            <a:off x="1407166" y="2741504"/>
            <a:ext cx="10153500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Выбор средств разработки;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91;p6">
            <a:extLst>
              <a:ext uri="{FF2B5EF4-FFF2-40B4-BE49-F238E27FC236}">
                <a16:creationId xmlns:a16="http://schemas.microsoft.com/office/drawing/2014/main" id="{A87A776B-CBE0-3D19-F850-5FFDA172C5EC}"/>
              </a:ext>
            </a:extLst>
          </p:cNvPr>
          <p:cNvSpPr txBox="1"/>
          <p:nvPr/>
        </p:nvSpPr>
        <p:spPr>
          <a:xfrm>
            <a:off x="1264710" y="3665488"/>
            <a:ext cx="9976200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Проектирование архитектуры приложения и базы данных;</a:t>
            </a:r>
            <a:endParaRPr sz="23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Google Shape;92;p6">
            <a:extLst>
              <a:ext uri="{FF2B5EF4-FFF2-40B4-BE49-F238E27FC236}">
                <a16:creationId xmlns:a16="http://schemas.microsoft.com/office/drawing/2014/main" id="{227AEE10-EA7A-1A40-D0A4-518CB831D037}"/>
              </a:ext>
            </a:extLst>
          </p:cNvPr>
          <p:cNvSpPr txBox="1"/>
          <p:nvPr/>
        </p:nvSpPr>
        <p:spPr>
          <a:xfrm>
            <a:off x="1407166" y="4501454"/>
            <a:ext cx="9976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Реализация функций разрабатываемой</a:t>
            </a:r>
            <a:r>
              <a:rPr lang="en-US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системы.</a:t>
            </a:r>
            <a:endParaRPr sz="230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Google Shape;126;p8">
            <a:extLst>
              <a:ext uri="{FF2B5EF4-FFF2-40B4-BE49-F238E27FC236}">
                <a16:creationId xmlns:a16="http://schemas.microsoft.com/office/drawing/2014/main" id="{460910CE-71EA-ED77-D3DF-6C6561686AFF}"/>
              </a:ext>
            </a:extLst>
          </p:cNvPr>
          <p:cNvSpPr/>
          <p:nvPr/>
        </p:nvSpPr>
        <p:spPr>
          <a:xfrm flipH="1">
            <a:off x="951090" y="1853954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6;p8">
            <a:extLst>
              <a:ext uri="{FF2B5EF4-FFF2-40B4-BE49-F238E27FC236}">
                <a16:creationId xmlns:a16="http://schemas.microsoft.com/office/drawing/2014/main" id="{27BCA3B0-D217-F0BB-4760-DBB6B7EED88A}"/>
              </a:ext>
            </a:extLst>
          </p:cNvPr>
          <p:cNvSpPr/>
          <p:nvPr/>
        </p:nvSpPr>
        <p:spPr>
          <a:xfrm flipH="1">
            <a:off x="951090" y="2874087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26;p8">
            <a:extLst>
              <a:ext uri="{FF2B5EF4-FFF2-40B4-BE49-F238E27FC236}">
                <a16:creationId xmlns:a16="http://schemas.microsoft.com/office/drawing/2014/main" id="{907757A5-CED7-DCA4-B8B2-12A5779DAED1}"/>
              </a:ext>
            </a:extLst>
          </p:cNvPr>
          <p:cNvSpPr/>
          <p:nvPr/>
        </p:nvSpPr>
        <p:spPr>
          <a:xfrm flipH="1">
            <a:off x="951090" y="3803238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126;p8">
            <a:extLst>
              <a:ext uri="{FF2B5EF4-FFF2-40B4-BE49-F238E27FC236}">
                <a16:creationId xmlns:a16="http://schemas.microsoft.com/office/drawing/2014/main" id="{7A51F893-497B-6D5D-A68E-4BDEC9E91797}"/>
              </a:ext>
            </a:extLst>
          </p:cNvPr>
          <p:cNvSpPr/>
          <p:nvPr/>
        </p:nvSpPr>
        <p:spPr>
          <a:xfrm flipH="1">
            <a:off x="953063" y="4645454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71;p5">
            <a:extLst>
              <a:ext uri="{FF2B5EF4-FFF2-40B4-BE49-F238E27FC236}">
                <a16:creationId xmlns:a16="http://schemas.microsoft.com/office/drawing/2014/main" id="{EB935FA8-8E48-20AD-3E82-7C803BFC10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33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6">
            <a:extLst>
              <a:ext uri="{FF2B5EF4-FFF2-40B4-BE49-F238E27FC236}">
                <a16:creationId xmlns:a16="http://schemas.microsoft.com/office/drawing/2014/main" id="{9D917E89-9D16-C704-93C5-86BBE49238B4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Обзор аналогов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530D5F-AE10-7FA4-F413-8BE8EC428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0" y="1769605"/>
            <a:ext cx="12002740" cy="3030995"/>
          </a:xfrm>
          <a:prstGeom prst="rect">
            <a:avLst/>
          </a:prstGeom>
        </p:spPr>
      </p:pic>
      <p:sp>
        <p:nvSpPr>
          <p:cNvPr id="7" name="Google Shape;71;p5">
            <a:extLst>
              <a:ext uri="{FF2B5EF4-FFF2-40B4-BE49-F238E27FC236}">
                <a16:creationId xmlns:a16="http://schemas.microsoft.com/office/drawing/2014/main" id="{96493A99-C42B-65F4-54B3-71156FF3FD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55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9;p8">
            <a:extLst>
              <a:ext uri="{FF2B5EF4-FFF2-40B4-BE49-F238E27FC236}">
                <a16:creationId xmlns:a16="http://schemas.microsoft.com/office/drawing/2014/main" id="{F4709B77-D597-B99C-BCFD-ADBF0853D766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Средства реализации</a:t>
            </a:r>
          </a:p>
        </p:txBody>
      </p:sp>
      <p:sp>
        <p:nvSpPr>
          <p:cNvPr id="9" name="Google Shape;114;p8">
            <a:extLst>
              <a:ext uri="{FF2B5EF4-FFF2-40B4-BE49-F238E27FC236}">
                <a16:creationId xmlns:a16="http://schemas.microsoft.com/office/drawing/2014/main" id="{FFD0DE75-AC77-EF47-2933-28889524DB68}"/>
              </a:ext>
            </a:extLst>
          </p:cNvPr>
          <p:cNvSpPr txBox="1"/>
          <p:nvPr/>
        </p:nvSpPr>
        <p:spPr>
          <a:xfrm>
            <a:off x="1401147" y="1281056"/>
            <a:ext cx="5361097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Язык программирования </a:t>
            </a:r>
            <a:r>
              <a:rPr lang="ru-RU" sz="22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Kotlin</a:t>
            </a:r>
            <a:r>
              <a:rPr lang="ru-RU" sz="22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18;p8">
            <a:extLst>
              <a:ext uri="{FF2B5EF4-FFF2-40B4-BE49-F238E27FC236}">
                <a16:creationId xmlns:a16="http://schemas.microsoft.com/office/drawing/2014/main" id="{A8A127A9-4A26-D403-539B-075BCCC2072E}"/>
              </a:ext>
            </a:extLst>
          </p:cNvPr>
          <p:cNvSpPr txBox="1"/>
          <p:nvPr/>
        </p:nvSpPr>
        <p:spPr>
          <a:xfrm>
            <a:off x="960517" y="4141139"/>
            <a:ext cx="4186996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Фреймворк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Spring Boot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19;p8">
            <a:extLst>
              <a:ext uri="{FF2B5EF4-FFF2-40B4-BE49-F238E27FC236}">
                <a16:creationId xmlns:a16="http://schemas.microsoft.com/office/drawing/2014/main" id="{D95A8893-F7B3-E576-C607-E8CEE072C854}"/>
              </a:ext>
            </a:extLst>
          </p:cNvPr>
          <p:cNvSpPr txBox="1"/>
          <p:nvPr/>
        </p:nvSpPr>
        <p:spPr>
          <a:xfrm>
            <a:off x="960517" y="4837838"/>
            <a:ext cx="5062928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sz="22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база данных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122;p8">
            <a:extLst>
              <a:ext uri="{FF2B5EF4-FFF2-40B4-BE49-F238E27FC236}">
                <a16:creationId xmlns:a16="http://schemas.microsoft.com/office/drawing/2014/main" id="{BD051E4B-1262-43E1-F06D-329E04B75B52}"/>
              </a:ext>
            </a:extLst>
          </p:cNvPr>
          <p:cNvSpPr txBox="1"/>
          <p:nvPr/>
        </p:nvSpPr>
        <p:spPr>
          <a:xfrm>
            <a:off x="927829" y="2004354"/>
            <a:ext cx="4309116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u="none" strike="noStrike" cap="none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Яндекс.Карты</a:t>
            </a:r>
            <a:r>
              <a:rPr lang="ru-RU" sz="22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API (</a:t>
            </a:r>
            <a:r>
              <a:rPr lang="ru-RU" sz="2200" b="0" i="0" u="none" strike="noStrike" cap="none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MapKit</a:t>
            </a:r>
            <a:r>
              <a:rPr lang="ru-RU" sz="22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Google Shape;130;p8">
            <a:extLst>
              <a:ext uri="{FF2B5EF4-FFF2-40B4-BE49-F238E27FC236}">
                <a16:creationId xmlns:a16="http://schemas.microsoft.com/office/drawing/2014/main" id="{931C45CD-4171-6F09-95AA-B8E16EAEDD99}"/>
              </a:ext>
            </a:extLst>
          </p:cNvPr>
          <p:cNvSpPr txBox="1"/>
          <p:nvPr/>
        </p:nvSpPr>
        <p:spPr>
          <a:xfrm>
            <a:off x="1401147" y="2727652"/>
            <a:ext cx="3580039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u="none" strike="noStrike" cap="none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Яндекс.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Диск</a:t>
            </a:r>
            <a:r>
              <a:rPr lang="ru-RU" sz="22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REST API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26;p8">
            <a:extLst>
              <a:ext uri="{FF2B5EF4-FFF2-40B4-BE49-F238E27FC236}">
                <a16:creationId xmlns:a16="http://schemas.microsoft.com/office/drawing/2014/main" id="{0788D324-9844-2784-B567-FCAE41E02F3A}"/>
              </a:ext>
            </a:extLst>
          </p:cNvPr>
          <p:cNvSpPr/>
          <p:nvPr/>
        </p:nvSpPr>
        <p:spPr>
          <a:xfrm flipH="1">
            <a:off x="850044" y="1420247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Google Shape;126;p8">
            <a:extLst>
              <a:ext uri="{FF2B5EF4-FFF2-40B4-BE49-F238E27FC236}">
                <a16:creationId xmlns:a16="http://schemas.microsoft.com/office/drawing/2014/main" id="{E8040E52-6C27-0833-F917-5F615310ACE8}"/>
              </a:ext>
            </a:extLst>
          </p:cNvPr>
          <p:cNvSpPr/>
          <p:nvPr/>
        </p:nvSpPr>
        <p:spPr>
          <a:xfrm flipH="1">
            <a:off x="850044" y="2136088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126;p8">
            <a:extLst>
              <a:ext uri="{FF2B5EF4-FFF2-40B4-BE49-F238E27FC236}">
                <a16:creationId xmlns:a16="http://schemas.microsoft.com/office/drawing/2014/main" id="{F04D9C3C-A0D9-4197-3CD1-9D00E71DF1CF}"/>
              </a:ext>
            </a:extLst>
          </p:cNvPr>
          <p:cNvSpPr/>
          <p:nvPr/>
        </p:nvSpPr>
        <p:spPr>
          <a:xfrm flipH="1">
            <a:off x="850044" y="2851929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Google Shape;126;p8">
            <a:extLst>
              <a:ext uri="{FF2B5EF4-FFF2-40B4-BE49-F238E27FC236}">
                <a16:creationId xmlns:a16="http://schemas.microsoft.com/office/drawing/2014/main" id="{13577764-A10A-5150-3324-94AC04FF3F95}"/>
              </a:ext>
            </a:extLst>
          </p:cNvPr>
          <p:cNvSpPr/>
          <p:nvPr/>
        </p:nvSpPr>
        <p:spPr>
          <a:xfrm flipH="1">
            <a:off x="850044" y="3567770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F1BE4-C360-B6BC-5E9A-78FC12601E79}"/>
              </a:ext>
            </a:extLst>
          </p:cNvPr>
          <p:cNvSpPr txBox="1"/>
          <p:nvPr/>
        </p:nvSpPr>
        <p:spPr>
          <a:xfrm>
            <a:off x="1401147" y="3450950"/>
            <a:ext cx="4595986" cy="448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Язык программирования  </a:t>
            </a:r>
            <a:r>
              <a:rPr lang="en-US" sz="22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Java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6;p8">
            <a:extLst>
              <a:ext uri="{FF2B5EF4-FFF2-40B4-BE49-F238E27FC236}">
                <a16:creationId xmlns:a16="http://schemas.microsoft.com/office/drawing/2014/main" id="{4A234B72-6CF7-AA96-F68E-09E4858DE8D7}"/>
              </a:ext>
            </a:extLst>
          </p:cNvPr>
          <p:cNvSpPr/>
          <p:nvPr/>
        </p:nvSpPr>
        <p:spPr>
          <a:xfrm flipH="1">
            <a:off x="850044" y="4283611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6;p8">
            <a:extLst>
              <a:ext uri="{FF2B5EF4-FFF2-40B4-BE49-F238E27FC236}">
                <a16:creationId xmlns:a16="http://schemas.microsoft.com/office/drawing/2014/main" id="{2F833B39-7AC8-C2C1-50F2-F39C49F16A79}"/>
              </a:ext>
            </a:extLst>
          </p:cNvPr>
          <p:cNvSpPr/>
          <p:nvPr/>
        </p:nvSpPr>
        <p:spPr>
          <a:xfrm flipH="1">
            <a:off x="850044" y="4999453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Грабли, спрятанные в Kotlin / Хабр">
            <a:extLst>
              <a:ext uri="{FF2B5EF4-FFF2-40B4-BE49-F238E27FC236}">
                <a16:creationId xmlns:a16="http://schemas.microsoft.com/office/drawing/2014/main" id="{28EEA50B-5A8A-73B1-AEEF-B758365B2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575" y="192266"/>
            <a:ext cx="3144519" cy="217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pKit: Перезагрузка — Клуб API Карт">
            <a:extLst>
              <a:ext uri="{FF2B5EF4-FFF2-40B4-BE49-F238E27FC236}">
                <a16:creationId xmlns:a16="http://schemas.microsoft.com/office/drawing/2014/main" id="{1CEFBB82-C24D-87E6-098D-05B22D7B5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924" y="1762686"/>
            <a:ext cx="1329030" cy="118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F0CE91-8367-EF6A-CB44-FFEE1ECD1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445" y="1591535"/>
            <a:ext cx="1180443" cy="118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ava — Википедия">
            <a:extLst>
              <a:ext uri="{FF2B5EF4-FFF2-40B4-BE49-F238E27FC236}">
                <a16:creationId xmlns:a16="http://schemas.microsoft.com/office/drawing/2014/main" id="{3D83EC10-FFA1-B09B-9154-036108125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838" y="2735278"/>
            <a:ext cx="1032160" cy="189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ring Boot - Wikipedia">
            <a:extLst>
              <a:ext uri="{FF2B5EF4-FFF2-40B4-BE49-F238E27FC236}">
                <a16:creationId xmlns:a16="http://schemas.microsoft.com/office/drawing/2014/main" id="{1CC243ED-6A19-27BA-34C9-BB43D941E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315" y="3899471"/>
            <a:ext cx="1032160" cy="103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ostgreSQL: что это за СУБД, основы и преимущества">
            <a:extLst>
              <a:ext uri="{FF2B5EF4-FFF2-40B4-BE49-F238E27FC236}">
                <a16:creationId xmlns:a16="http://schemas.microsoft.com/office/drawing/2014/main" id="{9186F863-5C1C-B040-6EC9-09A105BF3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924" y="4807871"/>
            <a:ext cx="1049817" cy="108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71;p5">
            <a:extLst>
              <a:ext uri="{FF2B5EF4-FFF2-40B4-BE49-F238E27FC236}">
                <a16:creationId xmlns:a16="http://schemas.microsoft.com/office/drawing/2014/main" id="{BD6D6AC4-EB07-237E-24E7-F475D83416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9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8;p9">
            <a:extLst>
              <a:ext uri="{FF2B5EF4-FFF2-40B4-BE49-F238E27FC236}">
                <a16:creationId xmlns:a16="http://schemas.microsoft.com/office/drawing/2014/main" id="{5841E619-3D1B-DC7F-EB0F-322E4EC054D7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</a:p>
        </p:txBody>
      </p:sp>
      <p:sp>
        <p:nvSpPr>
          <p:cNvPr id="7" name="Google Shape;71;p5">
            <a:extLst>
              <a:ext uri="{FF2B5EF4-FFF2-40B4-BE49-F238E27FC236}">
                <a16:creationId xmlns:a16="http://schemas.microsoft.com/office/drawing/2014/main" id="{105E6B34-A38B-3AAC-80CC-9CDA527FB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6;p8">
            <a:extLst>
              <a:ext uri="{FF2B5EF4-FFF2-40B4-BE49-F238E27FC236}">
                <a16:creationId xmlns:a16="http://schemas.microsoft.com/office/drawing/2014/main" id="{BF8B1C92-8899-3D0E-9E27-0A90F93C639E}"/>
              </a:ext>
            </a:extLst>
          </p:cNvPr>
          <p:cNvSpPr/>
          <p:nvPr/>
        </p:nvSpPr>
        <p:spPr>
          <a:xfrm flipH="1">
            <a:off x="850044" y="1605442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6;p8">
            <a:extLst>
              <a:ext uri="{FF2B5EF4-FFF2-40B4-BE49-F238E27FC236}">
                <a16:creationId xmlns:a16="http://schemas.microsoft.com/office/drawing/2014/main" id="{5F6CB9F6-A2AF-42CF-6B47-D3EBD39CC0B2}"/>
              </a:ext>
            </a:extLst>
          </p:cNvPr>
          <p:cNvSpPr/>
          <p:nvPr/>
        </p:nvSpPr>
        <p:spPr>
          <a:xfrm flipH="1">
            <a:off x="850044" y="2517221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26;p8">
            <a:extLst>
              <a:ext uri="{FF2B5EF4-FFF2-40B4-BE49-F238E27FC236}">
                <a16:creationId xmlns:a16="http://schemas.microsoft.com/office/drawing/2014/main" id="{FCAA920D-148E-5F99-514E-D97794A9A7D7}"/>
              </a:ext>
            </a:extLst>
          </p:cNvPr>
          <p:cNvSpPr/>
          <p:nvPr/>
        </p:nvSpPr>
        <p:spPr>
          <a:xfrm flipH="1">
            <a:off x="850044" y="3429000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14;p8">
            <a:extLst>
              <a:ext uri="{FF2B5EF4-FFF2-40B4-BE49-F238E27FC236}">
                <a16:creationId xmlns:a16="http://schemas.microsoft.com/office/drawing/2014/main" id="{2A5FAD43-D9A7-78C8-5893-33375CF8EF4D}"/>
              </a:ext>
            </a:extLst>
          </p:cNvPr>
          <p:cNvSpPr txBox="1"/>
          <p:nvPr/>
        </p:nvSpPr>
        <p:spPr>
          <a:xfrm>
            <a:off x="1252960" y="1443827"/>
            <a:ext cx="8668828" cy="49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Клиент </a:t>
            </a:r>
            <a:r>
              <a:rPr lang="en-US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– </a:t>
            </a:r>
            <a:r>
              <a:rPr lang="ru-RU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нативное приложение, </a:t>
            </a:r>
            <a:r>
              <a:rPr lang="en-US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MVVM</a:t>
            </a:r>
            <a:endParaRPr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4156D-A6D4-8DE8-D0E5-0A267684534E}"/>
              </a:ext>
            </a:extLst>
          </p:cNvPr>
          <p:cNvSpPr txBox="1"/>
          <p:nvPr/>
        </p:nvSpPr>
        <p:spPr>
          <a:xfrm>
            <a:off x="1252960" y="2213999"/>
            <a:ext cx="79827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Сервер </a:t>
            </a:r>
            <a:r>
              <a:rPr lang="en-US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Spring Boot – </a:t>
            </a:r>
            <a:r>
              <a:rPr lang="ru-RU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многоуровневая архитектура (</a:t>
            </a:r>
            <a:r>
              <a:rPr lang="en-US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Controller → Service → Repository)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0CC395-CC77-0CB4-11DB-3EA02CF2F893}"/>
              </a:ext>
            </a:extLst>
          </p:cNvPr>
          <p:cNvSpPr txBox="1"/>
          <p:nvPr/>
        </p:nvSpPr>
        <p:spPr>
          <a:xfrm>
            <a:off x="1252960" y="3285062"/>
            <a:ext cx="60940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База данных – </a:t>
            </a:r>
            <a:r>
              <a:rPr lang="en-US" sz="23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1493152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диаграмма, число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7B9EF08C-7B9D-0A14-BD37-BC0072677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4" t="4589"/>
          <a:stretch/>
        </p:blipFill>
        <p:spPr>
          <a:xfrm>
            <a:off x="2956327" y="179064"/>
            <a:ext cx="6504913" cy="6313810"/>
          </a:xfrm>
          <a:prstGeom prst="rect">
            <a:avLst/>
          </a:prstGeom>
        </p:spPr>
      </p:pic>
      <p:sp>
        <p:nvSpPr>
          <p:cNvPr id="2" name="Google Shape;101;p7">
            <a:extLst>
              <a:ext uri="{FF2B5EF4-FFF2-40B4-BE49-F238E27FC236}">
                <a16:creationId xmlns:a16="http://schemas.microsoft.com/office/drawing/2014/main" id="{889FED40-C1BC-90F8-F68C-3780EFEDC7B6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-диаграмма</a:t>
            </a:r>
          </a:p>
        </p:txBody>
      </p:sp>
      <p:sp>
        <p:nvSpPr>
          <p:cNvPr id="6" name="Google Shape;71;p5">
            <a:extLst>
              <a:ext uri="{FF2B5EF4-FFF2-40B4-BE49-F238E27FC236}">
                <a16:creationId xmlns:a16="http://schemas.microsoft.com/office/drawing/2014/main" id="{6CBE1862-A95C-34F7-21B5-2783B17267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1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диаграмма, текст, рисунок, зарисовка&#10;&#10;Автоматически созданное описание">
            <a:extLst>
              <a:ext uri="{FF2B5EF4-FFF2-40B4-BE49-F238E27FC236}">
                <a16:creationId xmlns:a16="http://schemas.microsoft.com/office/drawing/2014/main" id="{9D22C038-5AA0-AC7A-32CB-314236385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21" y="923732"/>
            <a:ext cx="11540358" cy="5569142"/>
          </a:xfrm>
          <a:prstGeom prst="rect">
            <a:avLst/>
          </a:prstGeom>
        </p:spPr>
      </p:pic>
      <p:sp>
        <p:nvSpPr>
          <p:cNvPr id="4" name="Google Shape;101;p7">
            <a:extLst>
              <a:ext uri="{FF2B5EF4-FFF2-40B4-BE49-F238E27FC236}">
                <a16:creationId xmlns:a16="http://schemas.microsoft.com/office/drawing/2014/main" id="{05C491F7-BF31-B606-E8A3-37B348313FB3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Диаграмма прецедентов</a:t>
            </a:r>
          </a:p>
        </p:txBody>
      </p:sp>
      <p:sp>
        <p:nvSpPr>
          <p:cNvPr id="7" name="Google Shape;71;p5">
            <a:extLst>
              <a:ext uri="{FF2B5EF4-FFF2-40B4-BE49-F238E27FC236}">
                <a16:creationId xmlns:a16="http://schemas.microsoft.com/office/drawing/2014/main" id="{342DE219-CCE0-DC4E-F860-A6B8E57BBF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71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3;p11">
            <a:extLst>
              <a:ext uri="{FF2B5EF4-FFF2-40B4-BE49-F238E27FC236}">
                <a16:creationId xmlns:a16="http://schemas.microsoft.com/office/drawing/2014/main" id="{5BFD0370-4ED5-C2DE-6835-069590B1360D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Экраны авторизации</a:t>
            </a:r>
          </a:p>
        </p:txBody>
      </p:sp>
      <p:pic>
        <p:nvPicPr>
          <p:cNvPr id="5" name="Google Shape;164;p11" title="l2MCp2JhVvhszM5LwhwN3o6XAui8cZw858wRYOkHY_HYoYyF0tysI2LRUnyuCdDymwdzg-8Hp-oZl7sjSilGOGIq.jpg">
            <a:extLst>
              <a:ext uri="{FF2B5EF4-FFF2-40B4-BE49-F238E27FC236}">
                <a16:creationId xmlns:a16="http://schemas.microsoft.com/office/drawing/2014/main" id="{B356890B-80EB-4B62-EE39-19A16F5D2D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30" b="20"/>
          <a:stretch/>
        </p:blipFill>
        <p:spPr>
          <a:xfrm>
            <a:off x="4981829" y="1062843"/>
            <a:ext cx="2228342" cy="48940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oogle Shape;165;p11" title="ft4W1qRF7HRIZPJrHq9lrFCG3cG0L90NePlYK3ZMJJTzD3t8PlxbUOgrgB-vOpVvYWlqeIX7K2-nMIv-msGfJ1YO.jpg">
            <a:extLst>
              <a:ext uri="{FF2B5EF4-FFF2-40B4-BE49-F238E27FC236}">
                <a16:creationId xmlns:a16="http://schemas.microsoft.com/office/drawing/2014/main" id="{B939ABB5-B914-7334-4C47-E49C85EDA0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0" b="20"/>
          <a:stretch/>
        </p:blipFill>
        <p:spPr>
          <a:xfrm>
            <a:off x="1631302" y="1074028"/>
            <a:ext cx="2228342" cy="48940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166;p11" title="yP9sdhc4IzRUHMlvIQWs7uKd7ElFp48hIJXPpyT6Q6P3Biox-amv7FD3KNGLBtdp5850liRymQJHEw6roo6nx7Zk.jpg">
            <a:extLst>
              <a:ext uri="{FF2B5EF4-FFF2-40B4-BE49-F238E27FC236}">
                <a16:creationId xmlns:a16="http://schemas.microsoft.com/office/drawing/2014/main" id="{CEF5D5AA-E4E4-1AD0-B343-6965AF1890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30" b="20"/>
          <a:stretch/>
        </p:blipFill>
        <p:spPr>
          <a:xfrm>
            <a:off x="8330801" y="1074028"/>
            <a:ext cx="2228342" cy="4894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71;p5">
            <a:extLst>
              <a:ext uri="{FF2B5EF4-FFF2-40B4-BE49-F238E27FC236}">
                <a16:creationId xmlns:a16="http://schemas.microsoft.com/office/drawing/2014/main" id="{02A235E7-6004-A679-E736-6EDCE2830D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9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3;p12">
            <a:extLst>
              <a:ext uri="{FF2B5EF4-FFF2-40B4-BE49-F238E27FC236}">
                <a16:creationId xmlns:a16="http://schemas.microsoft.com/office/drawing/2014/main" id="{F1D3D133-B7E7-1344-25DB-1B80C37CA510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интерфейса</a:t>
            </a:r>
          </a:p>
        </p:txBody>
      </p:sp>
      <p:pic>
        <p:nvPicPr>
          <p:cNvPr id="5" name="Google Shape;174;p12">
            <a:extLst>
              <a:ext uri="{FF2B5EF4-FFF2-40B4-BE49-F238E27FC236}">
                <a16:creationId xmlns:a16="http://schemas.microsoft.com/office/drawing/2014/main" id="{072A6B84-E6E2-65AA-BD4B-8C5AF821319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06602" y="1108563"/>
            <a:ext cx="2228350" cy="48940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176;p12">
            <a:extLst>
              <a:ext uri="{FF2B5EF4-FFF2-40B4-BE49-F238E27FC236}">
                <a16:creationId xmlns:a16="http://schemas.microsoft.com/office/drawing/2014/main" id="{B073929A-11CC-6D1F-1168-32C361AF6D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515" y="1062843"/>
            <a:ext cx="2228351" cy="48940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94919-C1A9-E890-1690-2CC807F03300}"/>
              </a:ext>
            </a:extLst>
          </p:cNvPr>
          <p:cNvSpPr txBox="1"/>
          <p:nvPr/>
        </p:nvSpPr>
        <p:spPr>
          <a:xfrm>
            <a:off x="494677" y="3509884"/>
            <a:ext cx="1258288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Главная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Дуга 18">
            <a:extLst>
              <a:ext uri="{FF2B5EF4-FFF2-40B4-BE49-F238E27FC236}">
                <a16:creationId xmlns:a16="http://schemas.microsoft.com/office/drawing/2014/main" id="{5DB538D1-EF7F-0E3F-D9F4-C508E46CD8D4}"/>
              </a:ext>
            </a:extLst>
          </p:cNvPr>
          <p:cNvSpPr/>
          <p:nvPr/>
        </p:nvSpPr>
        <p:spPr>
          <a:xfrm rot="16774033">
            <a:off x="1079414" y="2919576"/>
            <a:ext cx="1342663" cy="1180617"/>
          </a:xfrm>
          <a:prstGeom prst="arc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4FDBED-3B0D-31D7-AF89-FEC98973978D}"/>
              </a:ext>
            </a:extLst>
          </p:cNvPr>
          <p:cNvSpPr txBox="1"/>
          <p:nvPr/>
        </p:nvSpPr>
        <p:spPr>
          <a:xfrm>
            <a:off x="9548019" y="3662284"/>
            <a:ext cx="1258288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Профиль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Дуга 20">
            <a:extLst>
              <a:ext uri="{FF2B5EF4-FFF2-40B4-BE49-F238E27FC236}">
                <a16:creationId xmlns:a16="http://schemas.microsoft.com/office/drawing/2014/main" id="{89D1D2C3-0F07-2044-CDDD-B7E7F57A4300}"/>
              </a:ext>
            </a:extLst>
          </p:cNvPr>
          <p:cNvSpPr/>
          <p:nvPr/>
        </p:nvSpPr>
        <p:spPr>
          <a:xfrm rot="911681">
            <a:off x="8752462" y="2672553"/>
            <a:ext cx="1342663" cy="1180617"/>
          </a:xfrm>
          <a:prstGeom prst="arc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Google Shape;71;p5">
            <a:extLst>
              <a:ext uri="{FF2B5EF4-FFF2-40B4-BE49-F238E27FC236}">
                <a16:creationId xmlns:a16="http://schemas.microsoft.com/office/drawing/2014/main" id="{4EBE4419-6B0A-2725-3C9E-1F28D6BB88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3;p12">
            <a:extLst>
              <a:ext uri="{FF2B5EF4-FFF2-40B4-BE49-F238E27FC236}">
                <a16:creationId xmlns:a16="http://schemas.microsoft.com/office/drawing/2014/main" id="{F1D3D133-B7E7-1344-25DB-1B80C37CA510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интерфейса</a:t>
            </a:r>
          </a:p>
        </p:txBody>
      </p:sp>
      <p:pic>
        <p:nvPicPr>
          <p:cNvPr id="8" name="Google Shape;177;p12">
            <a:extLst>
              <a:ext uri="{FF2B5EF4-FFF2-40B4-BE49-F238E27FC236}">
                <a16:creationId xmlns:a16="http://schemas.microsoft.com/office/drawing/2014/main" id="{1914963E-834B-0398-F23E-D74E38A8B1C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86837" y="1103905"/>
            <a:ext cx="2228325" cy="489402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Рисунок 8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09ADEB3-8860-6BAC-2C20-A72C3A025A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149" y="1103904"/>
            <a:ext cx="2228409" cy="4894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Рисунок 9" descr="Изображение выглядит как текст, облако, небо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79B005D0-C2FC-2E6F-97FC-BCD92B141C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25" b="64093"/>
          <a:stretch/>
        </p:blipFill>
        <p:spPr bwMode="auto">
          <a:xfrm>
            <a:off x="8430577" y="1103904"/>
            <a:ext cx="3103245" cy="71437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98BCD1-2D19-3D34-1777-A7BA7FC1F093}"/>
              </a:ext>
            </a:extLst>
          </p:cNvPr>
          <p:cNvSpPr txBox="1"/>
          <p:nvPr/>
        </p:nvSpPr>
        <p:spPr>
          <a:xfrm>
            <a:off x="128549" y="2570512"/>
            <a:ext cx="1258288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Экран событий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Дуга 4">
            <a:extLst>
              <a:ext uri="{FF2B5EF4-FFF2-40B4-BE49-F238E27FC236}">
                <a16:creationId xmlns:a16="http://schemas.microsoft.com/office/drawing/2014/main" id="{6F87922E-EB1F-F4A0-CFEC-A10219545CFC}"/>
              </a:ext>
            </a:extLst>
          </p:cNvPr>
          <p:cNvSpPr/>
          <p:nvPr/>
        </p:nvSpPr>
        <p:spPr>
          <a:xfrm rot="16774033">
            <a:off x="198218" y="1869683"/>
            <a:ext cx="1669708" cy="994609"/>
          </a:xfrm>
          <a:prstGeom prst="arc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2DF28-6A21-396F-AF4A-C0D0C8CC0218}"/>
              </a:ext>
            </a:extLst>
          </p:cNvPr>
          <p:cNvSpPr txBox="1"/>
          <p:nvPr/>
        </p:nvSpPr>
        <p:spPr>
          <a:xfrm>
            <a:off x="8191232" y="4405254"/>
            <a:ext cx="1725726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Создать напоминание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Дуга 6">
            <a:extLst>
              <a:ext uri="{FF2B5EF4-FFF2-40B4-BE49-F238E27FC236}">
                <a16:creationId xmlns:a16="http://schemas.microsoft.com/office/drawing/2014/main" id="{C7832665-746E-F272-1D9A-15CC3250924B}"/>
              </a:ext>
            </a:extLst>
          </p:cNvPr>
          <p:cNvSpPr/>
          <p:nvPr/>
        </p:nvSpPr>
        <p:spPr>
          <a:xfrm rot="21133381">
            <a:off x="7456094" y="3841595"/>
            <a:ext cx="1342663" cy="1180617"/>
          </a:xfrm>
          <a:prstGeom prst="arc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E4B83-C86D-7ED3-F430-827455315727}"/>
              </a:ext>
            </a:extLst>
          </p:cNvPr>
          <p:cNvSpPr txBox="1"/>
          <p:nvPr/>
        </p:nvSpPr>
        <p:spPr>
          <a:xfrm>
            <a:off x="9887199" y="2772707"/>
            <a:ext cx="1835928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Уведомление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FE095867-3C92-4B67-82EC-88F7D5ECC97C}"/>
              </a:ext>
            </a:extLst>
          </p:cNvPr>
          <p:cNvSpPr/>
          <p:nvPr/>
        </p:nvSpPr>
        <p:spPr>
          <a:xfrm rot="911681">
            <a:off x="9717231" y="2027400"/>
            <a:ext cx="736305" cy="1258406"/>
          </a:xfrm>
          <a:prstGeom prst="arc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Google Shape;71;p5">
            <a:extLst>
              <a:ext uri="{FF2B5EF4-FFF2-40B4-BE49-F238E27FC236}">
                <a16:creationId xmlns:a16="http://schemas.microsoft.com/office/drawing/2014/main" id="{F4BDCE1D-F725-7E47-7E6B-2B1ACDBD00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2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3;p12">
            <a:extLst>
              <a:ext uri="{FF2B5EF4-FFF2-40B4-BE49-F238E27FC236}">
                <a16:creationId xmlns:a16="http://schemas.microsoft.com/office/drawing/2014/main" id="{F1D3D133-B7E7-1344-25DB-1B80C37CA510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интерфейса</a:t>
            </a:r>
          </a:p>
        </p:txBody>
      </p:sp>
      <p:pic>
        <p:nvPicPr>
          <p:cNvPr id="6" name="Google Shape;175;p12">
            <a:extLst>
              <a:ext uri="{FF2B5EF4-FFF2-40B4-BE49-F238E27FC236}">
                <a16:creationId xmlns:a16="http://schemas.microsoft.com/office/drawing/2014/main" id="{21C9AB45-6B29-EE2C-2521-D95B0CD503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87503" y="1262586"/>
            <a:ext cx="2228325" cy="48940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E09080E4-492E-5591-A1DD-F452FD7947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051" y="1262586"/>
            <a:ext cx="2228325" cy="48940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598FAB-1B39-A783-336F-9EDC7A94C0E2}"/>
              </a:ext>
            </a:extLst>
          </p:cNvPr>
          <p:cNvSpPr txBox="1"/>
          <p:nvPr/>
        </p:nvSpPr>
        <p:spPr>
          <a:xfrm>
            <a:off x="865069" y="3463584"/>
            <a:ext cx="1258288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Карта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уга 12">
            <a:extLst>
              <a:ext uri="{FF2B5EF4-FFF2-40B4-BE49-F238E27FC236}">
                <a16:creationId xmlns:a16="http://schemas.microsoft.com/office/drawing/2014/main" id="{3EA9516B-E0B8-1E93-D27D-BB39CBA3FD9D}"/>
              </a:ext>
            </a:extLst>
          </p:cNvPr>
          <p:cNvSpPr/>
          <p:nvPr/>
        </p:nvSpPr>
        <p:spPr>
          <a:xfrm rot="16774033">
            <a:off x="1449806" y="2873276"/>
            <a:ext cx="1342663" cy="1180617"/>
          </a:xfrm>
          <a:prstGeom prst="arc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2149E2-D3C1-8F9A-8668-AF85276ABD36}"/>
              </a:ext>
            </a:extLst>
          </p:cNvPr>
          <p:cNvSpPr txBox="1"/>
          <p:nvPr/>
        </p:nvSpPr>
        <p:spPr>
          <a:xfrm>
            <a:off x="9094057" y="5701621"/>
            <a:ext cx="1725726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Информация о месте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Дуга 14">
            <a:extLst>
              <a:ext uri="{FF2B5EF4-FFF2-40B4-BE49-F238E27FC236}">
                <a16:creationId xmlns:a16="http://schemas.microsoft.com/office/drawing/2014/main" id="{B3BFCE8D-8706-76DC-E21D-68CC68E7D7D1}"/>
              </a:ext>
            </a:extLst>
          </p:cNvPr>
          <p:cNvSpPr/>
          <p:nvPr/>
        </p:nvSpPr>
        <p:spPr>
          <a:xfrm rot="21133381">
            <a:off x="8358919" y="5137962"/>
            <a:ext cx="1342663" cy="1180617"/>
          </a:xfrm>
          <a:prstGeom prst="arc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Google Shape;71;p5">
            <a:extLst>
              <a:ext uri="{FF2B5EF4-FFF2-40B4-BE49-F238E27FC236}">
                <a16:creationId xmlns:a16="http://schemas.microsoft.com/office/drawing/2014/main" id="{5919ADF4-B9CC-E9A9-8F9A-7525CE85E5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50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4;p13">
            <a:extLst>
              <a:ext uri="{FF2B5EF4-FFF2-40B4-BE49-F238E27FC236}">
                <a16:creationId xmlns:a16="http://schemas.microsoft.com/office/drawing/2014/main" id="{6FB9703A-FF9A-000F-1549-2A26868FCA42}"/>
              </a:ext>
            </a:extLst>
          </p:cNvPr>
          <p:cNvSpPr txBox="1">
            <a:spLocks/>
          </p:cNvSpPr>
          <p:nvPr/>
        </p:nvSpPr>
        <p:spPr>
          <a:xfrm>
            <a:off x="1033072" y="365126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  <a:spcBef>
                <a:spcPts val="0"/>
              </a:spcBef>
              <a:buClr>
                <a:srgbClr val="00497A"/>
              </a:buClr>
              <a:buSzPts val="3200"/>
              <a:buFont typeface="Arial"/>
              <a:buNone/>
            </a:pP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5" name="Google Shape;185;p13">
            <a:extLst>
              <a:ext uri="{FF2B5EF4-FFF2-40B4-BE49-F238E27FC236}">
                <a16:creationId xmlns:a16="http://schemas.microsoft.com/office/drawing/2014/main" id="{B5A52987-F053-1AC8-8F26-53A6D1B36963}"/>
              </a:ext>
            </a:extLst>
          </p:cNvPr>
          <p:cNvSpPr txBox="1"/>
          <p:nvPr/>
        </p:nvSpPr>
        <p:spPr>
          <a:xfrm>
            <a:off x="838200" y="1679512"/>
            <a:ext cx="10582469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	В результате выполнения работы было разработано мобильное приложение «</a:t>
            </a:r>
            <a:r>
              <a:rPr lang="ru-RU" sz="2300" b="0" i="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Pet</a:t>
            </a:r>
            <a:r>
              <a:rPr lang="ru-RU" sz="23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ru-RU" sz="2300" b="0" i="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Diary</a:t>
            </a:r>
            <a:r>
              <a:rPr lang="ru-RU" sz="23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», которое полностью соответствует поставленным целям и задачам.</a:t>
            </a:r>
            <a:r>
              <a:rPr lang="ru-RU" sz="1800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	</a:t>
            </a:r>
            <a:endParaRPr sz="230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Google Shape;89;p6">
            <a:extLst>
              <a:ext uri="{FF2B5EF4-FFF2-40B4-BE49-F238E27FC236}">
                <a16:creationId xmlns:a16="http://schemas.microsoft.com/office/drawing/2014/main" id="{BAF7F9CB-01CD-E97D-E0D8-A0048D83CB0B}"/>
              </a:ext>
            </a:extLst>
          </p:cNvPr>
          <p:cNvSpPr txBox="1"/>
          <p:nvPr/>
        </p:nvSpPr>
        <p:spPr>
          <a:xfrm>
            <a:off x="1407166" y="3379653"/>
            <a:ext cx="10078800" cy="49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latin typeface="Arial" panose="020B0604020202020204" pitchFamily="34" charset="0"/>
                <a:ea typeface="Courier New" panose="02070309020205020404" pitchFamily="49" charset="0"/>
                <a:cs typeface="Arial" panose="020B0604020202020204" pitchFamily="34" charset="0"/>
              </a:rPr>
              <a:t>Был проанализирован</a:t>
            </a:r>
            <a:r>
              <a:rPr lang="ru-RU" sz="2300" dirty="0">
                <a:effectLst/>
                <a:latin typeface="Arial" panose="020B0604020202020204" pitchFamily="34" charset="0"/>
                <a:ea typeface="Courier New" panose="02070309020205020404" pitchFamily="49" charset="0"/>
                <a:cs typeface="Arial" panose="020B0604020202020204" pitchFamily="34" charset="0"/>
              </a:rPr>
              <a:t> рынок мобильных приложений для владельцев;</a:t>
            </a:r>
            <a:endParaRPr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90;p6">
            <a:extLst>
              <a:ext uri="{FF2B5EF4-FFF2-40B4-BE49-F238E27FC236}">
                <a16:creationId xmlns:a16="http://schemas.microsoft.com/office/drawing/2014/main" id="{267B54EA-DA71-F7E2-659B-3F31E732820C}"/>
              </a:ext>
            </a:extLst>
          </p:cNvPr>
          <p:cNvSpPr txBox="1"/>
          <p:nvPr/>
        </p:nvSpPr>
        <p:spPr>
          <a:xfrm>
            <a:off x="1332466" y="5211058"/>
            <a:ext cx="591856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Реализованы основные функции.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91;p6">
            <a:extLst>
              <a:ext uri="{FF2B5EF4-FFF2-40B4-BE49-F238E27FC236}">
                <a16:creationId xmlns:a16="http://schemas.microsoft.com/office/drawing/2014/main" id="{52A25696-11A1-719E-93AF-95256F81C654}"/>
              </a:ext>
            </a:extLst>
          </p:cNvPr>
          <p:cNvSpPr txBox="1"/>
          <p:nvPr/>
        </p:nvSpPr>
        <p:spPr>
          <a:xfrm>
            <a:off x="1407166" y="4303644"/>
            <a:ext cx="8234139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u="none" strike="noStrike" cap="none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Спроектирована архитектура приложения и база данных;</a:t>
            </a:r>
            <a:endParaRPr sz="23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Google Shape;126;p8">
            <a:extLst>
              <a:ext uri="{FF2B5EF4-FFF2-40B4-BE49-F238E27FC236}">
                <a16:creationId xmlns:a16="http://schemas.microsoft.com/office/drawing/2014/main" id="{A60A00FA-7686-76FC-2B57-EEB1C5000A31}"/>
              </a:ext>
            </a:extLst>
          </p:cNvPr>
          <p:cNvSpPr/>
          <p:nvPr/>
        </p:nvSpPr>
        <p:spPr>
          <a:xfrm flipH="1">
            <a:off x="951090" y="3586504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26;p8">
            <a:extLst>
              <a:ext uri="{FF2B5EF4-FFF2-40B4-BE49-F238E27FC236}">
                <a16:creationId xmlns:a16="http://schemas.microsoft.com/office/drawing/2014/main" id="{363F81E7-2197-C370-6ABE-AEA7C0A4897B}"/>
              </a:ext>
            </a:extLst>
          </p:cNvPr>
          <p:cNvSpPr/>
          <p:nvPr/>
        </p:nvSpPr>
        <p:spPr>
          <a:xfrm flipH="1">
            <a:off x="951090" y="4447562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6;p8">
            <a:extLst>
              <a:ext uri="{FF2B5EF4-FFF2-40B4-BE49-F238E27FC236}">
                <a16:creationId xmlns:a16="http://schemas.microsoft.com/office/drawing/2014/main" id="{3BD8A43C-FC8B-4CEC-F50F-EDDDBE2F6A03}"/>
              </a:ext>
            </a:extLst>
          </p:cNvPr>
          <p:cNvSpPr/>
          <p:nvPr/>
        </p:nvSpPr>
        <p:spPr>
          <a:xfrm flipH="1">
            <a:off x="951090" y="5273866"/>
            <a:ext cx="154500" cy="15840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03040" dist="75967" dir="5448874" sx="102000" sy="102000" algn="ctr" rotWithShape="0">
              <a:srgbClr val="BFBFBF">
                <a:alpha val="5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71;p5">
            <a:extLst>
              <a:ext uri="{FF2B5EF4-FFF2-40B4-BE49-F238E27FC236}">
                <a16:creationId xmlns:a16="http://schemas.microsoft.com/office/drawing/2014/main" id="{AC1034CF-E005-ABCD-F321-DDE2433B78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08204"/>
            <a:ext cx="3251106" cy="41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1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909FDF-C3F4-B8C7-8219-ACAB6E75C323}"/>
              </a:ext>
            </a:extLst>
          </p:cNvPr>
          <p:cNvSpPr txBox="1"/>
          <p:nvPr/>
        </p:nvSpPr>
        <p:spPr>
          <a:xfrm>
            <a:off x="1416186" y="3189774"/>
            <a:ext cx="9359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владельцев домашних питомцев «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PetDiary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5A4FD-A72A-6DF0-A1CA-0B51C8D5F4A8}"/>
              </a:ext>
            </a:extLst>
          </p:cNvPr>
          <p:cNvSpPr txBox="1"/>
          <p:nvPr/>
        </p:nvSpPr>
        <p:spPr>
          <a:xfrm>
            <a:off x="645695" y="228676"/>
            <a:ext cx="1142999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80E46-2CFB-DA4C-9229-298B71126795}"/>
              </a:ext>
            </a:extLst>
          </p:cNvPr>
          <p:cNvSpPr txBox="1"/>
          <p:nvPr/>
        </p:nvSpPr>
        <p:spPr>
          <a:xfrm>
            <a:off x="1074822" y="1789943"/>
            <a:ext cx="1057174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Кафедра программирования и информационных технологий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FCE6F-AC5F-63A8-D705-E83276E1119D}"/>
              </a:ext>
            </a:extLst>
          </p:cNvPr>
          <p:cNvSpPr txBox="1"/>
          <p:nvPr/>
        </p:nvSpPr>
        <p:spPr>
          <a:xfrm>
            <a:off x="6360695" y="5828259"/>
            <a:ext cx="599974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асс. Ушаков В.А. </a:t>
            </a:r>
          </a:p>
          <a:p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Выполнила: ст.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300" dirty="0">
                <a:latin typeface="Arial" panose="020B0604020202020204" pitchFamily="34" charset="0"/>
                <a:cs typeface="Arial" panose="020B0604020202020204" pitchFamily="34" charset="0"/>
              </a:rPr>
              <a:t>3 курса Аверкиева  Е.А.</a:t>
            </a:r>
          </a:p>
        </p:txBody>
      </p:sp>
    </p:spTree>
    <p:extLst>
      <p:ext uri="{BB962C8B-B14F-4D97-AF65-F5344CB8AC3E}">
        <p14:creationId xmlns:p14="http://schemas.microsoft.com/office/powerpoint/2010/main" val="9312364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336</Words>
  <Application>Microsoft Office PowerPoint</Application>
  <PresentationFormat>Широкоэкранный</PresentationFormat>
  <Paragraphs>66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katrin</dc:creator>
  <cp:lastModifiedBy>katrin</cp:lastModifiedBy>
  <cp:revision>8</cp:revision>
  <dcterms:created xsi:type="dcterms:W3CDTF">2026-06-06T08:30:55Z</dcterms:created>
  <dcterms:modified xsi:type="dcterms:W3CDTF">2026-06-09T23:46:56Z</dcterms:modified>
</cp:coreProperties>
</file>