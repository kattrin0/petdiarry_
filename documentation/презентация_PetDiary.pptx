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58" y="8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2A48B3-C382-F977-EE87-A6E2C739DF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BC1A237-02AC-947C-6DAF-0E363A6BB6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63245C9-7E2C-A2B8-B212-0DDBFB670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0DCF8B-E7E1-4A17-8D7B-8CC8D5848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8B4D6C-5FEE-E013-CF65-66A1F8ED2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8574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843433-8272-D9B7-5D0C-E299B10C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8CDC1E-64A0-EA5F-C752-2DA607D5E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A18BCE-00A2-4F01-AE7C-0306A932D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348555F-7F8A-E8B3-983F-956DC931D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3F96DBB-B677-809A-233C-EB152E1C0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882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0DBF3A-F132-392C-FA35-487F216AE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11F4EAF-F320-9A55-1BFE-4DBE3E427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888BBC-6663-2C06-7C05-169D791D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C16CA6-F1D0-DCDA-B862-9F42EC1D3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BD0E1D-19EB-D708-3C1B-EF8B399F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890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F72031-8796-0C01-772A-3D0DD392D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519E7B8-915B-66BA-25E6-FA0484EF1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2BD8A29-13EA-1372-DBF6-B405DDDB3B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6EDCCAF-2099-EA52-A954-30F72F9A9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CC8356-EE08-1E6D-E6CB-C923FC15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99C7A08-853F-0C7C-0915-FFCA8852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288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4F6E07-AFCD-7F0E-D86E-4B72BE795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657808-88B5-05EC-BDC9-5B28605EE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7566BB6-ADE8-5216-4893-DE34C0DBA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33C9A89-D1BB-B1EB-1F5C-EB5EE66931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044516A-F7E1-525D-819A-4974F79FE8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6197D4C-91AA-C522-52C0-41A357DA8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6401A80-AC1A-BDD9-2EC1-D48AA09EC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D4EC6A9-F921-476C-86F3-C7ED146F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532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42C984-9224-6769-9A0C-4FCBA5310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E988E95-BEED-16CD-833F-F7B6657BE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D12A9F0-3D97-18F9-E926-4F207AD6A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C62F947-8703-D2DB-717C-10689DDE8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6722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C05E9C3-8E7A-07B7-CF91-76CE6C56F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324958D-D4AB-9CFC-D660-14A98FD15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A96DA6D-203A-C648-3A55-6AE86BA7E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955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810544-93FA-70D2-8B7E-614A7E1CE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E01A4C-D35C-BFAD-9395-5AA8C4B0A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C5E02E3-EFFB-51E5-32C5-30FD3DFE3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9CF0F45-1794-33DC-D492-664BF0CCF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FA52760-625B-47F9-3A34-910BED544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9A077C-BDC4-71AC-2E6C-774A8C311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5642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383F90-E9CD-2789-9992-3F9A6D8E0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DDD6447-C272-D5E5-442C-994CB28BDF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D986326-9FEC-1806-54FC-A5FBE077E4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B7544DD-8418-626B-031D-779F48134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9DA7A51-4AAE-D732-41E8-570B1FF22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D740E89-651E-8394-0ABD-32F31A38C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9538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C7CFB2-0419-819E-932A-F0BD67D2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4722964-8877-8938-1EC2-18E9B384C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4FA1D6-311D-D23E-AA0F-0083642C8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F1DC1F-3D16-4D07-B631-22AC9BE14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181F446-451D-0959-835D-C5C65398D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23150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9B7A16-F4AE-D9FA-4DC7-A87F887DE6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1EFF82F-50ED-E715-46CD-5B5311BA65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D53F89B-C212-3C57-4885-A6E8825C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EF0069-4B24-D152-6851-59685AD00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DAF378A-17DF-A45A-49DB-2827CF300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3397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B2EA91-9C58-87EA-E5DC-C5C15B985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2CF164B-2035-C98F-9F9B-4DD4AAE196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FAFC64-E5DC-A85A-D24D-1B9F9BE310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90BFC-4C86-4A7E-9030-5F942040A976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4F72232-9698-F480-2DB9-DB789F35B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0D97B2-8250-5887-092A-117F949EC0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59C224-78EF-4D56-AAA4-6FD9F39CD8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2468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909FDF-C3F4-B8C7-8219-ACAB6E75C323}"/>
              </a:ext>
            </a:extLst>
          </p:cNvPr>
          <p:cNvSpPr txBox="1"/>
          <p:nvPr/>
        </p:nvSpPr>
        <p:spPr>
          <a:xfrm>
            <a:off x="1416186" y="3189774"/>
            <a:ext cx="93596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мобильного приложения для владельцев домашних питомцев «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PetDiary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85A4FD-A72A-6DF0-A1CA-0B51C8D5F4A8}"/>
              </a:ext>
            </a:extLst>
          </p:cNvPr>
          <p:cNvSpPr txBox="1"/>
          <p:nvPr/>
        </p:nvSpPr>
        <p:spPr>
          <a:xfrm>
            <a:off x="645695" y="228676"/>
            <a:ext cx="11429999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80E46-2CFB-DA4C-9229-298B71126795}"/>
              </a:ext>
            </a:extLst>
          </p:cNvPr>
          <p:cNvSpPr txBox="1"/>
          <p:nvPr/>
        </p:nvSpPr>
        <p:spPr>
          <a:xfrm>
            <a:off x="1074822" y="1789943"/>
            <a:ext cx="10571746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Факультет компьютерных наук </a:t>
            </a:r>
            <a:endParaRPr lang="en-US" sz="23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Кафедра программирования и информационных технологий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BFCE6F-AC5F-63A8-D705-E83276E1119D}"/>
              </a:ext>
            </a:extLst>
          </p:cNvPr>
          <p:cNvSpPr txBox="1"/>
          <p:nvPr/>
        </p:nvSpPr>
        <p:spPr>
          <a:xfrm>
            <a:off x="6360695" y="5828259"/>
            <a:ext cx="5999746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Научный руководитель: </a:t>
            </a:r>
            <a:r>
              <a:rPr lang="en-US" sz="23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асс. Ушаков В.А. </a:t>
            </a:r>
          </a:p>
          <a:p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Выполнила: ст.</a:t>
            </a:r>
            <a:r>
              <a:rPr lang="en-US" sz="23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3 курса Аверкиева  Е.А.</a:t>
            </a:r>
          </a:p>
        </p:txBody>
      </p:sp>
    </p:spTree>
    <p:extLst>
      <p:ext uri="{BB962C8B-B14F-4D97-AF65-F5344CB8AC3E}">
        <p14:creationId xmlns:p14="http://schemas.microsoft.com/office/powerpoint/2010/main" val="1497982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1;p5">
            <a:extLst>
              <a:ext uri="{FF2B5EF4-FFF2-40B4-BE49-F238E27FC236}">
                <a16:creationId xmlns:a16="http://schemas.microsoft.com/office/drawing/2014/main" id="{67A848F3-67EA-3333-E301-0F05CF4E9B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Google Shape;72;p5">
            <a:extLst>
              <a:ext uri="{FF2B5EF4-FFF2-40B4-BE49-F238E27FC236}">
                <a16:creationId xmlns:a16="http://schemas.microsoft.com/office/drawing/2014/main" id="{9C64A2A7-B6C5-28A6-3F05-0DB17A78DFAF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Постановка цели: </a:t>
            </a:r>
          </a:p>
        </p:txBody>
      </p:sp>
      <p:sp>
        <p:nvSpPr>
          <p:cNvPr id="5" name="Google Shape;73;p5">
            <a:extLst>
              <a:ext uri="{FF2B5EF4-FFF2-40B4-BE49-F238E27FC236}">
                <a16:creationId xmlns:a16="http://schemas.microsoft.com/office/drawing/2014/main" id="{E5B9E51E-39B4-5449-36B9-394F732430CD}"/>
              </a:ext>
            </a:extLst>
          </p:cNvPr>
          <p:cNvSpPr txBox="1"/>
          <p:nvPr/>
        </p:nvSpPr>
        <p:spPr>
          <a:xfrm>
            <a:off x="1679706" y="1423226"/>
            <a:ext cx="10182000" cy="11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Основной целью проектной работы является разработка мобильного приложения «</a:t>
            </a:r>
            <a:r>
              <a:rPr lang="ru-RU" sz="2300" b="0" i="0" u="none" strike="noStrike" cap="none" dirty="0" err="1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Pet</a:t>
            </a:r>
            <a:r>
              <a:rPr lang="ru-RU" sz="2300" b="0" i="0" u="none" strike="noStrike" cap="none" dirty="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ru-RU" sz="2300" b="0" i="0" u="none" strike="noStrike" cap="none" dirty="0" err="1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Diary</a:t>
            </a:r>
            <a:r>
              <a:rPr lang="ru-RU" sz="2300" b="0" i="0" u="none" strike="noStrike" cap="none" dirty="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» для учета и планирования событий, связанных с домашними питомцами</a:t>
            </a:r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2300" b="0" i="0" u="none" strike="noStrike" cap="none" dirty="0"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6" name="Google Shape;74;p5">
            <a:extLst>
              <a:ext uri="{FF2B5EF4-FFF2-40B4-BE49-F238E27FC236}">
                <a16:creationId xmlns:a16="http://schemas.microsoft.com/office/drawing/2014/main" id="{608DF779-924B-924D-2DCC-2BC7DF95D6CF}"/>
              </a:ext>
            </a:extLst>
          </p:cNvPr>
          <p:cNvSpPr txBox="1">
            <a:spLocks/>
          </p:cNvSpPr>
          <p:nvPr/>
        </p:nvSpPr>
        <p:spPr>
          <a:xfrm>
            <a:off x="1032960" y="3216145"/>
            <a:ext cx="82026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 проекта:</a:t>
            </a:r>
          </a:p>
        </p:txBody>
      </p:sp>
      <p:sp>
        <p:nvSpPr>
          <p:cNvPr id="7" name="Google Shape;75;p5">
            <a:extLst>
              <a:ext uri="{FF2B5EF4-FFF2-40B4-BE49-F238E27FC236}">
                <a16:creationId xmlns:a16="http://schemas.microsoft.com/office/drawing/2014/main" id="{7A89CA2D-E635-0F6C-8813-D8A75ABC77D4}"/>
              </a:ext>
            </a:extLst>
          </p:cNvPr>
          <p:cNvSpPr txBox="1"/>
          <p:nvPr/>
        </p:nvSpPr>
        <p:spPr>
          <a:xfrm>
            <a:off x="1995096" y="4280374"/>
            <a:ext cx="9749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dirty="0"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Рост числа домашних питомцев</a:t>
            </a:r>
            <a:endParaRPr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Google Shape;76;p5">
            <a:extLst>
              <a:ext uri="{FF2B5EF4-FFF2-40B4-BE49-F238E27FC236}">
                <a16:creationId xmlns:a16="http://schemas.microsoft.com/office/drawing/2014/main" id="{043A5D87-31B1-CCC6-83E6-B6DAB19A73DD}"/>
              </a:ext>
            </a:extLst>
          </p:cNvPr>
          <p:cNvSpPr txBox="1"/>
          <p:nvPr/>
        </p:nvSpPr>
        <p:spPr>
          <a:xfrm>
            <a:off x="1995096" y="4780454"/>
            <a:ext cx="97494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Цифровизация повседневности</a:t>
            </a:r>
            <a:endParaRPr sz="23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Google Shape;126;p8">
            <a:extLst>
              <a:ext uri="{FF2B5EF4-FFF2-40B4-BE49-F238E27FC236}">
                <a16:creationId xmlns:a16="http://schemas.microsoft.com/office/drawing/2014/main" id="{218E7D53-F081-E7DE-366F-FF7FE49E9B77}"/>
              </a:ext>
            </a:extLst>
          </p:cNvPr>
          <p:cNvSpPr/>
          <p:nvPr/>
        </p:nvSpPr>
        <p:spPr>
          <a:xfrm flipH="1">
            <a:off x="1679706" y="444679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Google Shape;126;p8">
            <a:extLst>
              <a:ext uri="{FF2B5EF4-FFF2-40B4-BE49-F238E27FC236}">
                <a16:creationId xmlns:a16="http://schemas.microsoft.com/office/drawing/2014/main" id="{FE1FCF10-1351-055C-3ED4-74AD1F583F3B}"/>
              </a:ext>
            </a:extLst>
          </p:cNvPr>
          <p:cNvSpPr/>
          <p:nvPr/>
        </p:nvSpPr>
        <p:spPr>
          <a:xfrm flipH="1">
            <a:off x="1679706" y="497065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2310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4;p6">
            <a:extLst>
              <a:ext uri="{FF2B5EF4-FFF2-40B4-BE49-F238E27FC236}">
                <a16:creationId xmlns:a16="http://schemas.microsoft.com/office/drawing/2014/main" id="{333F555D-7674-E7B8-B8D6-488DEFC96FFD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Google Shape;85;p6">
            <a:extLst>
              <a:ext uri="{FF2B5EF4-FFF2-40B4-BE49-F238E27FC236}">
                <a16:creationId xmlns:a16="http://schemas.microsoft.com/office/drawing/2014/main" id="{E10D0A06-AE11-8988-8AAC-2531C729CB83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Постановка задачи:</a:t>
            </a:r>
          </a:p>
        </p:txBody>
      </p:sp>
      <p:sp>
        <p:nvSpPr>
          <p:cNvPr id="8" name="Google Shape;89;p6">
            <a:extLst>
              <a:ext uri="{FF2B5EF4-FFF2-40B4-BE49-F238E27FC236}">
                <a16:creationId xmlns:a16="http://schemas.microsoft.com/office/drawing/2014/main" id="{7481854B-8972-06A3-7D42-A41281888A36}"/>
              </a:ext>
            </a:extLst>
          </p:cNvPr>
          <p:cNvSpPr txBox="1"/>
          <p:nvPr/>
        </p:nvSpPr>
        <p:spPr>
          <a:xfrm>
            <a:off x="1407166" y="1647103"/>
            <a:ext cx="10078800" cy="906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</a:rPr>
              <a:t>Анализ рынка мобильных приложений  для владельцев домашних питомцев;</a:t>
            </a:r>
            <a:endParaRPr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Google Shape;90;p6">
            <a:extLst>
              <a:ext uri="{FF2B5EF4-FFF2-40B4-BE49-F238E27FC236}">
                <a16:creationId xmlns:a16="http://schemas.microsoft.com/office/drawing/2014/main" id="{EA260A50-C7D4-D6C2-6090-3A7ED5539B7F}"/>
              </a:ext>
            </a:extLst>
          </p:cNvPr>
          <p:cNvSpPr txBox="1"/>
          <p:nvPr/>
        </p:nvSpPr>
        <p:spPr>
          <a:xfrm>
            <a:off x="1407166" y="2741504"/>
            <a:ext cx="10153500" cy="446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Выбор средств разработки;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Google Shape;91;p6">
            <a:extLst>
              <a:ext uri="{FF2B5EF4-FFF2-40B4-BE49-F238E27FC236}">
                <a16:creationId xmlns:a16="http://schemas.microsoft.com/office/drawing/2014/main" id="{A87A776B-CBE0-3D19-F850-5FFDA172C5EC}"/>
              </a:ext>
            </a:extLst>
          </p:cNvPr>
          <p:cNvSpPr txBox="1"/>
          <p:nvPr/>
        </p:nvSpPr>
        <p:spPr>
          <a:xfrm>
            <a:off x="1264710" y="3665488"/>
            <a:ext cx="9976200" cy="446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Проектирование архитектуры приложения и базы данных;</a:t>
            </a:r>
            <a:endParaRPr sz="2300" b="0" i="0" u="none" strike="noStrike" cap="none" dirty="0"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11" name="Google Shape;92;p6">
            <a:extLst>
              <a:ext uri="{FF2B5EF4-FFF2-40B4-BE49-F238E27FC236}">
                <a16:creationId xmlns:a16="http://schemas.microsoft.com/office/drawing/2014/main" id="{227AEE10-EA7A-1A40-D0A4-518CB831D037}"/>
              </a:ext>
            </a:extLst>
          </p:cNvPr>
          <p:cNvSpPr txBox="1"/>
          <p:nvPr/>
        </p:nvSpPr>
        <p:spPr>
          <a:xfrm>
            <a:off x="1407166" y="4501454"/>
            <a:ext cx="99762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Реализация функций разрабатываемой.</a:t>
            </a:r>
            <a:endParaRPr sz="2300" dirty="0"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Google Shape;126;p8">
            <a:extLst>
              <a:ext uri="{FF2B5EF4-FFF2-40B4-BE49-F238E27FC236}">
                <a16:creationId xmlns:a16="http://schemas.microsoft.com/office/drawing/2014/main" id="{460910CE-71EA-ED77-D3DF-6C6561686AFF}"/>
              </a:ext>
            </a:extLst>
          </p:cNvPr>
          <p:cNvSpPr/>
          <p:nvPr/>
        </p:nvSpPr>
        <p:spPr>
          <a:xfrm flipH="1">
            <a:off x="951090" y="185395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26;p8">
            <a:extLst>
              <a:ext uri="{FF2B5EF4-FFF2-40B4-BE49-F238E27FC236}">
                <a16:creationId xmlns:a16="http://schemas.microsoft.com/office/drawing/2014/main" id="{27BCA3B0-D217-F0BB-4760-DBB6B7EED88A}"/>
              </a:ext>
            </a:extLst>
          </p:cNvPr>
          <p:cNvSpPr/>
          <p:nvPr/>
        </p:nvSpPr>
        <p:spPr>
          <a:xfrm flipH="1">
            <a:off x="951090" y="2874087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Google Shape;126;p8">
            <a:extLst>
              <a:ext uri="{FF2B5EF4-FFF2-40B4-BE49-F238E27FC236}">
                <a16:creationId xmlns:a16="http://schemas.microsoft.com/office/drawing/2014/main" id="{907757A5-CED7-DCA4-B8B2-12A5779DAED1}"/>
              </a:ext>
            </a:extLst>
          </p:cNvPr>
          <p:cNvSpPr/>
          <p:nvPr/>
        </p:nvSpPr>
        <p:spPr>
          <a:xfrm flipH="1">
            <a:off x="951090" y="3803238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Google Shape;126;p8">
            <a:extLst>
              <a:ext uri="{FF2B5EF4-FFF2-40B4-BE49-F238E27FC236}">
                <a16:creationId xmlns:a16="http://schemas.microsoft.com/office/drawing/2014/main" id="{7A51F893-497B-6D5D-A68E-4BDEC9E91797}"/>
              </a:ext>
            </a:extLst>
          </p:cNvPr>
          <p:cNvSpPr/>
          <p:nvPr/>
        </p:nvSpPr>
        <p:spPr>
          <a:xfrm flipH="1">
            <a:off x="953063" y="464545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2337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01;p7">
            <a:extLst>
              <a:ext uri="{FF2B5EF4-FFF2-40B4-BE49-F238E27FC236}">
                <a16:creationId xmlns:a16="http://schemas.microsoft.com/office/drawing/2014/main" id="{889FED40-C1BC-90F8-F68C-3780EFEDC7B6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6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ER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-диаграмма</a:t>
            </a:r>
          </a:p>
        </p:txBody>
      </p:sp>
      <p:pic>
        <p:nvPicPr>
          <p:cNvPr id="4" name="Рисунок 3" descr="Изображение выглядит как текст, диаграмма, число, Параллельный&#10;&#10;Автоматически созданное описание">
            <a:extLst>
              <a:ext uri="{FF2B5EF4-FFF2-40B4-BE49-F238E27FC236}">
                <a16:creationId xmlns:a16="http://schemas.microsoft.com/office/drawing/2014/main" id="{7B9EF08C-7B9D-0A14-BD37-BC00726779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44" t="4589"/>
          <a:stretch/>
        </p:blipFill>
        <p:spPr>
          <a:xfrm>
            <a:off x="2956328" y="1058978"/>
            <a:ext cx="5598367" cy="5433896"/>
          </a:xfrm>
          <a:prstGeom prst="rect">
            <a:avLst/>
          </a:prstGeom>
        </p:spPr>
      </p:pic>
      <p:sp>
        <p:nvSpPr>
          <p:cNvPr id="5" name="Google Shape;84;p6">
            <a:extLst>
              <a:ext uri="{FF2B5EF4-FFF2-40B4-BE49-F238E27FC236}">
                <a16:creationId xmlns:a16="http://schemas.microsoft.com/office/drawing/2014/main" id="{AB101A6C-D296-01A5-C673-0800072376AA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08104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1;p7">
            <a:extLst>
              <a:ext uri="{FF2B5EF4-FFF2-40B4-BE49-F238E27FC236}">
                <a16:creationId xmlns:a16="http://schemas.microsoft.com/office/drawing/2014/main" id="{05C491F7-BF31-B606-E8A3-37B348313FB3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6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Диаграмма прецедентов</a:t>
            </a:r>
          </a:p>
        </p:txBody>
      </p:sp>
      <p:pic>
        <p:nvPicPr>
          <p:cNvPr id="6" name="Рисунок 5" descr="Изображение выглядит как диаграмма, текст, рисунок, зарисовка&#10;&#10;Автоматически созданное описание">
            <a:extLst>
              <a:ext uri="{FF2B5EF4-FFF2-40B4-BE49-F238E27FC236}">
                <a16:creationId xmlns:a16="http://schemas.microsoft.com/office/drawing/2014/main" id="{9D22C038-5AA0-AC7A-32CB-3142363856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534" y="1088046"/>
            <a:ext cx="11199865" cy="5404827"/>
          </a:xfrm>
          <a:prstGeom prst="rect">
            <a:avLst/>
          </a:prstGeom>
        </p:spPr>
      </p:pic>
      <p:sp>
        <p:nvSpPr>
          <p:cNvPr id="2" name="Google Shape;99;p7">
            <a:extLst>
              <a:ext uri="{FF2B5EF4-FFF2-40B4-BE49-F238E27FC236}">
                <a16:creationId xmlns:a16="http://schemas.microsoft.com/office/drawing/2014/main" id="{6F39D71D-830B-BF38-8573-0CF2A0A6C6C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85266" y="6310323"/>
            <a:ext cx="27432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5</a:t>
            </a:fld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1711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08;p8">
            <a:extLst>
              <a:ext uri="{FF2B5EF4-FFF2-40B4-BE49-F238E27FC236}">
                <a16:creationId xmlns:a16="http://schemas.microsoft.com/office/drawing/2014/main" id="{E63C679E-32E0-54D9-7F2C-24A67562AB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131878" y="6277474"/>
            <a:ext cx="314452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Google Shape;109;p8">
            <a:extLst>
              <a:ext uri="{FF2B5EF4-FFF2-40B4-BE49-F238E27FC236}">
                <a16:creationId xmlns:a16="http://schemas.microsoft.com/office/drawing/2014/main" id="{F4709B77-D597-B99C-BCFD-ADBF0853D766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>
                <a:latin typeface="Arial" panose="020B0604020202020204" pitchFamily="34" charset="0"/>
                <a:cs typeface="Arial" panose="020B0604020202020204" pitchFamily="34" charset="0"/>
              </a:rPr>
              <a:t>Технический стек</a:t>
            </a:r>
          </a:p>
        </p:txBody>
      </p:sp>
      <p:sp>
        <p:nvSpPr>
          <p:cNvPr id="9" name="Google Shape;114;p8">
            <a:extLst>
              <a:ext uri="{FF2B5EF4-FFF2-40B4-BE49-F238E27FC236}">
                <a16:creationId xmlns:a16="http://schemas.microsoft.com/office/drawing/2014/main" id="{FFD0DE75-AC77-EF47-2933-28889524DB68}"/>
              </a:ext>
            </a:extLst>
          </p:cNvPr>
          <p:cNvSpPr txBox="1"/>
          <p:nvPr/>
        </p:nvSpPr>
        <p:spPr>
          <a:xfrm>
            <a:off x="1318532" y="1075784"/>
            <a:ext cx="609872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Язык разработки:</a:t>
            </a:r>
            <a:r>
              <a:rPr lang="ru-RU" sz="220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Kotlin 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Google Shape;115;p8">
            <a:extLst>
              <a:ext uri="{FF2B5EF4-FFF2-40B4-BE49-F238E27FC236}">
                <a16:creationId xmlns:a16="http://schemas.microsoft.com/office/drawing/2014/main" id="{760FEB38-65E8-3021-4FBD-9F80A06F62B4}"/>
              </a:ext>
            </a:extLst>
          </p:cNvPr>
          <p:cNvSpPr txBox="1"/>
          <p:nvPr/>
        </p:nvSpPr>
        <p:spPr>
          <a:xfrm>
            <a:off x="1297363" y="1521424"/>
            <a:ext cx="609872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Среда разработки:</a:t>
            </a:r>
            <a:r>
              <a:rPr lang="ru-RU" sz="220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 Android Studio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Google Shape;116;p8">
            <a:extLst>
              <a:ext uri="{FF2B5EF4-FFF2-40B4-BE49-F238E27FC236}">
                <a16:creationId xmlns:a16="http://schemas.microsoft.com/office/drawing/2014/main" id="{1CAFB16B-0CD0-0D7C-01C1-447023178E23}"/>
              </a:ext>
            </a:extLst>
          </p:cNvPr>
          <p:cNvSpPr txBox="1"/>
          <p:nvPr/>
        </p:nvSpPr>
        <p:spPr>
          <a:xfrm>
            <a:off x="1297363" y="1988952"/>
            <a:ext cx="60987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Архитектура:</a:t>
            </a:r>
            <a:r>
              <a:rPr lang="ru-RU" sz="220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 MVVM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Google Shape;117;p8">
            <a:extLst>
              <a:ext uri="{FF2B5EF4-FFF2-40B4-BE49-F238E27FC236}">
                <a16:creationId xmlns:a16="http://schemas.microsoft.com/office/drawing/2014/main" id="{7FC2FCE7-1C8F-2C5C-FA69-381C3F9FB751}"/>
              </a:ext>
            </a:extLst>
          </p:cNvPr>
          <p:cNvSpPr txBox="1"/>
          <p:nvPr/>
        </p:nvSpPr>
        <p:spPr>
          <a:xfrm>
            <a:off x="1297363" y="2377919"/>
            <a:ext cx="60987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dirty="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Бэкенд и данные:</a:t>
            </a:r>
            <a:endParaRPr sz="2200" dirty="0"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13" name="Google Shape;118;p8">
            <a:extLst>
              <a:ext uri="{FF2B5EF4-FFF2-40B4-BE49-F238E27FC236}">
                <a16:creationId xmlns:a16="http://schemas.microsoft.com/office/drawing/2014/main" id="{A8A127A9-4A26-D403-539B-075BCCC2072E}"/>
              </a:ext>
            </a:extLst>
          </p:cNvPr>
          <p:cNvSpPr txBox="1"/>
          <p:nvPr/>
        </p:nvSpPr>
        <p:spPr>
          <a:xfrm>
            <a:off x="1880398" y="2771355"/>
            <a:ext cx="93960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dirty="0">
                <a:latin typeface="Arial" panose="020B0604020202020204" pitchFamily="34" charset="0"/>
                <a:cs typeface="Arial" panose="020B0604020202020204" pitchFamily="34" charset="0"/>
              </a:rPr>
              <a:t>Spring Boot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Google Shape;119;p8">
            <a:extLst>
              <a:ext uri="{FF2B5EF4-FFF2-40B4-BE49-F238E27FC236}">
                <a16:creationId xmlns:a16="http://schemas.microsoft.com/office/drawing/2014/main" id="{D95A8893-F7B3-E576-C607-E8CEE072C854}"/>
              </a:ext>
            </a:extLst>
          </p:cNvPr>
          <p:cNvSpPr txBox="1"/>
          <p:nvPr/>
        </p:nvSpPr>
        <p:spPr>
          <a:xfrm>
            <a:off x="1880398" y="3240220"/>
            <a:ext cx="81216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>
                <a:latin typeface="Arial" panose="020B0604020202020204" pitchFamily="34" charset="0"/>
                <a:cs typeface="Arial" panose="020B0604020202020204" pitchFamily="34" charset="0"/>
              </a:rPr>
              <a:t>PostgreSQL - </a:t>
            </a:r>
            <a:r>
              <a:rPr lang="ru-RU" sz="2200" b="0" i="0" u="none" strike="noStrike" cap="none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база данных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Google Shape;120;p8">
            <a:extLst>
              <a:ext uri="{FF2B5EF4-FFF2-40B4-BE49-F238E27FC236}">
                <a16:creationId xmlns:a16="http://schemas.microsoft.com/office/drawing/2014/main" id="{ADB6C602-199D-FA43-AF1B-A8974F2D2985}"/>
              </a:ext>
            </a:extLst>
          </p:cNvPr>
          <p:cNvSpPr txBox="1"/>
          <p:nvPr/>
        </p:nvSpPr>
        <p:spPr>
          <a:xfrm>
            <a:off x="2314635" y="3708006"/>
            <a:ext cx="85275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SharedPreferences – для локального хранения</a:t>
            </a:r>
            <a:endParaRPr sz="2200"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16" name="Google Shape;121;p8">
            <a:extLst>
              <a:ext uri="{FF2B5EF4-FFF2-40B4-BE49-F238E27FC236}">
                <a16:creationId xmlns:a16="http://schemas.microsoft.com/office/drawing/2014/main" id="{792EC11D-272F-791F-1237-55D826F240EE}"/>
              </a:ext>
            </a:extLst>
          </p:cNvPr>
          <p:cNvSpPr txBox="1"/>
          <p:nvPr/>
        </p:nvSpPr>
        <p:spPr>
          <a:xfrm>
            <a:off x="1318532" y="4260035"/>
            <a:ext cx="60987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Внешние API:</a:t>
            </a:r>
            <a:endParaRPr sz="2200"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17" name="Google Shape;122;p8">
            <a:extLst>
              <a:ext uri="{FF2B5EF4-FFF2-40B4-BE49-F238E27FC236}">
                <a16:creationId xmlns:a16="http://schemas.microsoft.com/office/drawing/2014/main" id="{BD051E4B-1262-43E1-F06D-329E04B75B52}"/>
              </a:ext>
            </a:extLst>
          </p:cNvPr>
          <p:cNvSpPr txBox="1"/>
          <p:nvPr/>
        </p:nvSpPr>
        <p:spPr>
          <a:xfrm>
            <a:off x="1891604" y="4653471"/>
            <a:ext cx="66702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0" i="0" u="none" strike="noStrike" cap="none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Яндекс.Карты API (MapKit)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Google Shape;123;p8">
            <a:extLst>
              <a:ext uri="{FF2B5EF4-FFF2-40B4-BE49-F238E27FC236}">
                <a16:creationId xmlns:a16="http://schemas.microsoft.com/office/drawing/2014/main" id="{ED206EE4-8026-DE57-70ED-2362FE43D04A}"/>
              </a:ext>
            </a:extLst>
          </p:cNvPr>
          <p:cNvSpPr txBox="1"/>
          <p:nvPr/>
        </p:nvSpPr>
        <p:spPr>
          <a:xfrm>
            <a:off x="1297363" y="5521772"/>
            <a:ext cx="91518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Системные сервисы:</a:t>
            </a:r>
            <a:r>
              <a:rPr lang="ru-RU" sz="220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AlarmManager и NotificationManager </a:t>
            </a:r>
            <a:endParaRPr sz="2200"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21" name="Google Shape;126;p8">
            <a:extLst>
              <a:ext uri="{FF2B5EF4-FFF2-40B4-BE49-F238E27FC236}">
                <a16:creationId xmlns:a16="http://schemas.microsoft.com/office/drawing/2014/main" id="{30100F95-0BA7-7364-D468-C2DBF6D95E4D}"/>
              </a:ext>
            </a:extLst>
          </p:cNvPr>
          <p:cNvSpPr/>
          <p:nvPr/>
        </p:nvSpPr>
        <p:spPr>
          <a:xfrm flipH="1">
            <a:off x="2042757" y="2948130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Google Shape;127;p8">
            <a:extLst>
              <a:ext uri="{FF2B5EF4-FFF2-40B4-BE49-F238E27FC236}">
                <a16:creationId xmlns:a16="http://schemas.microsoft.com/office/drawing/2014/main" id="{53F0D775-1BFF-3FF7-FB31-98845CE905CA}"/>
              </a:ext>
            </a:extLst>
          </p:cNvPr>
          <p:cNvSpPr/>
          <p:nvPr/>
        </p:nvSpPr>
        <p:spPr>
          <a:xfrm flipH="1">
            <a:off x="2047927" y="3407571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Google Shape;128;p8">
            <a:extLst>
              <a:ext uri="{FF2B5EF4-FFF2-40B4-BE49-F238E27FC236}">
                <a16:creationId xmlns:a16="http://schemas.microsoft.com/office/drawing/2014/main" id="{CA3E1C5E-B94E-AB74-CCE1-3E32FCF50C75}"/>
              </a:ext>
            </a:extLst>
          </p:cNvPr>
          <p:cNvSpPr/>
          <p:nvPr/>
        </p:nvSpPr>
        <p:spPr>
          <a:xfrm flipH="1">
            <a:off x="2047927" y="3838040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Google Shape;129;p8">
            <a:extLst>
              <a:ext uri="{FF2B5EF4-FFF2-40B4-BE49-F238E27FC236}">
                <a16:creationId xmlns:a16="http://schemas.microsoft.com/office/drawing/2014/main" id="{0D0446B2-89EB-48D7-CAD2-AA5ACEA06C0D}"/>
              </a:ext>
            </a:extLst>
          </p:cNvPr>
          <p:cNvSpPr/>
          <p:nvPr/>
        </p:nvSpPr>
        <p:spPr>
          <a:xfrm flipH="1">
            <a:off x="2042757" y="4808387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Google Shape;130;p8">
            <a:extLst>
              <a:ext uri="{FF2B5EF4-FFF2-40B4-BE49-F238E27FC236}">
                <a16:creationId xmlns:a16="http://schemas.microsoft.com/office/drawing/2014/main" id="{931C45CD-4171-6F09-95AA-B8E16EAEDD99}"/>
              </a:ext>
            </a:extLst>
          </p:cNvPr>
          <p:cNvSpPr txBox="1"/>
          <p:nvPr/>
        </p:nvSpPr>
        <p:spPr>
          <a:xfrm>
            <a:off x="2042873" y="5084255"/>
            <a:ext cx="6670200" cy="481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1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ru-RU" sz="2200" b="0" i="0" u="none" strike="noStrike" cap="none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Яндекс.</a:t>
            </a:r>
            <a:r>
              <a:rPr lang="ru-RU" sz="2200">
                <a:latin typeface="Arial" panose="020B0604020202020204" pitchFamily="34" charset="0"/>
                <a:cs typeface="Arial" panose="020B0604020202020204" pitchFamily="34" charset="0"/>
              </a:rPr>
              <a:t>Диск</a:t>
            </a:r>
            <a:r>
              <a:rPr lang="ru-RU" sz="2200" b="0" i="0" u="none" strike="noStrike" cap="none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ru-RU" sz="2200">
                <a:latin typeface="Arial" panose="020B0604020202020204" pitchFamily="34" charset="0"/>
                <a:cs typeface="Arial" panose="020B0604020202020204" pitchFamily="34" charset="0"/>
              </a:rPr>
              <a:t>REST API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Google Shape;131;p8">
            <a:extLst>
              <a:ext uri="{FF2B5EF4-FFF2-40B4-BE49-F238E27FC236}">
                <a16:creationId xmlns:a16="http://schemas.microsoft.com/office/drawing/2014/main" id="{B5BA69F0-7CB2-4E9B-AA32-06139778808A}"/>
              </a:ext>
            </a:extLst>
          </p:cNvPr>
          <p:cNvSpPr/>
          <p:nvPr/>
        </p:nvSpPr>
        <p:spPr>
          <a:xfrm flipH="1">
            <a:off x="2042820" y="5220287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Google Shape;126;p8">
            <a:extLst>
              <a:ext uri="{FF2B5EF4-FFF2-40B4-BE49-F238E27FC236}">
                <a16:creationId xmlns:a16="http://schemas.microsoft.com/office/drawing/2014/main" id="{0788D324-9844-2784-B567-FCAE41E02F3A}"/>
              </a:ext>
            </a:extLst>
          </p:cNvPr>
          <p:cNvSpPr/>
          <p:nvPr/>
        </p:nvSpPr>
        <p:spPr>
          <a:xfrm flipH="1">
            <a:off x="911260" y="1236239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Google Shape;126;p8">
            <a:extLst>
              <a:ext uri="{FF2B5EF4-FFF2-40B4-BE49-F238E27FC236}">
                <a16:creationId xmlns:a16="http://schemas.microsoft.com/office/drawing/2014/main" id="{E8040E52-6C27-0833-F917-5F615310ACE8}"/>
              </a:ext>
            </a:extLst>
          </p:cNvPr>
          <p:cNvSpPr/>
          <p:nvPr/>
        </p:nvSpPr>
        <p:spPr>
          <a:xfrm flipH="1">
            <a:off x="902197" y="1683907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Google Shape;126;p8">
            <a:extLst>
              <a:ext uri="{FF2B5EF4-FFF2-40B4-BE49-F238E27FC236}">
                <a16:creationId xmlns:a16="http://schemas.microsoft.com/office/drawing/2014/main" id="{F04D9C3C-A0D9-4197-3CD1-9D00E71DF1CF}"/>
              </a:ext>
            </a:extLst>
          </p:cNvPr>
          <p:cNvSpPr/>
          <p:nvPr/>
        </p:nvSpPr>
        <p:spPr>
          <a:xfrm flipH="1">
            <a:off x="902197" y="219340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Google Shape;126;p8">
            <a:extLst>
              <a:ext uri="{FF2B5EF4-FFF2-40B4-BE49-F238E27FC236}">
                <a16:creationId xmlns:a16="http://schemas.microsoft.com/office/drawing/2014/main" id="{13577764-A10A-5150-3324-94AC04FF3F95}"/>
              </a:ext>
            </a:extLst>
          </p:cNvPr>
          <p:cNvSpPr/>
          <p:nvPr/>
        </p:nvSpPr>
        <p:spPr>
          <a:xfrm flipH="1">
            <a:off x="902197" y="263272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Google Shape;126;p8">
            <a:extLst>
              <a:ext uri="{FF2B5EF4-FFF2-40B4-BE49-F238E27FC236}">
                <a16:creationId xmlns:a16="http://schemas.microsoft.com/office/drawing/2014/main" id="{57A4A18E-5F06-C500-EA15-E28E899050FC}"/>
              </a:ext>
            </a:extLst>
          </p:cNvPr>
          <p:cNvSpPr/>
          <p:nvPr/>
        </p:nvSpPr>
        <p:spPr>
          <a:xfrm flipH="1">
            <a:off x="902197" y="4421650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Google Shape;126;p8">
            <a:extLst>
              <a:ext uri="{FF2B5EF4-FFF2-40B4-BE49-F238E27FC236}">
                <a16:creationId xmlns:a16="http://schemas.microsoft.com/office/drawing/2014/main" id="{B13627A4-A5F7-4C0A-BE95-A2DFAE21A332}"/>
              </a:ext>
            </a:extLst>
          </p:cNvPr>
          <p:cNvSpPr/>
          <p:nvPr/>
        </p:nvSpPr>
        <p:spPr>
          <a:xfrm flipH="1">
            <a:off x="902197" y="5657972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4482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37;p9">
            <a:extLst>
              <a:ext uri="{FF2B5EF4-FFF2-40B4-BE49-F238E27FC236}">
                <a16:creationId xmlns:a16="http://schemas.microsoft.com/office/drawing/2014/main" id="{9ABB6F61-0E2E-4D1C-7802-6B8325BD45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</a:rPr>
              <a:t>7</a:t>
            </a:fld>
            <a:endParaRPr>
              <a:solidFill>
                <a:schemeClr val="tx1"/>
              </a:solidFill>
            </a:endParaRPr>
          </a:p>
        </p:txBody>
      </p:sp>
      <p:sp>
        <p:nvSpPr>
          <p:cNvPr id="4" name="Google Shape;138;p9">
            <a:extLst>
              <a:ext uri="{FF2B5EF4-FFF2-40B4-BE49-F238E27FC236}">
                <a16:creationId xmlns:a16="http://schemas.microsoft.com/office/drawing/2014/main" id="{5841E619-3D1B-DC7F-EB0F-322E4EC054D7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600" cy="6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Архитектура</a:t>
            </a:r>
          </a:p>
        </p:txBody>
      </p:sp>
      <p:pic>
        <p:nvPicPr>
          <p:cNvPr id="5" name="Google Shape;139;p9">
            <a:extLst>
              <a:ext uri="{FF2B5EF4-FFF2-40B4-BE49-F238E27FC236}">
                <a16:creationId xmlns:a16="http://schemas.microsoft.com/office/drawing/2014/main" id="{4D5EB15E-099E-4AED-8CBF-1A50AAFF011D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188800" y="951275"/>
            <a:ext cx="6046875" cy="56350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93152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5;p10">
            <a:extLst>
              <a:ext uri="{FF2B5EF4-FFF2-40B4-BE49-F238E27FC236}">
                <a16:creationId xmlns:a16="http://schemas.microsoft.com/office/drawing/2014/main" id="{82F71AFA-CC28-36CE-4B15-B302E582B9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fld>
            <a:endParaRPr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Google Shape;146;p10">
            <a:extLst>
              <a:ext uri="{FF2B5EF4-FFF2-40B4-BE49-F238E27FC236}">
                <a16:creationId xmlns:a16="http://schemas.microsoft.com/office/drawing/2014/main" id="{FD09AF47-20FC-3E82-1015-BF644DE2A633}"/>
              </a:ext>
            </a:extLst>
          </p:cNvPr>
          <p:cNvSpPr txBox="1">
            <a:spLocks/>
          </p:cNvSpPr>
          <p:nvPr/>
        </p:nvSpPr>
        <p:spPr>
          <a:xfrm>
            <a:off x="838200" y="502515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>
                <a:latin typeface="Arial" panose="020B0604020202020204" pitchFamily="34" charset="0"/>
                <a:cs typeface="Arial" panose="020B0604020202020204" pitchFamily="34" charset="0"/>
              </a:rPr>
              <a:t>Дизайн</a:t>
            </a:r>
          </a:p>
        </p:txBody>
      </p:sp>
      <p:sp>
        <p:nvSpPr>
          <p:cNvPr id="5" name="Google Shape;147;p10">
            <a:extLst>
              <a:ext uri="{FF2B5EF4-FFF2-40B4-BE49-F238E27FC236}">
                <a16:creationId xmlns:a16="http://schemas.microsoft.com/office/drawing/2014/main" id="{84A7DA9D-2B67-A39A-E682-DE8B928B1E6D}"/>
              </a:ext>
            </a:extLst>
          </p:cNvPr>
          <p:cNvSpPr/>
          <p:nvPr/>
        </p:nvSpPr>
        <p:spPr>
          <a:xfrm>
            <a:off x="893167" y="2413714"/>
            <a:ext cx="1239600" cy="325800"/>
          </a:xfrm>
          <a:prstGeom prst="roundRect">
            <a:avLst>
              <a:gd name="adj" fmla="val 16667"/>
            </a:avLst>
          </a:prstGeom>
          <a:solidFill>
            <a:srgbClr val="697256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>
                <a:latin typeface="Arial" panose="020B0604020202020204" pitchFamily="34" charset="0"/>
                <a:cs typeface="Arial" panose="020B0604020202020204" pitchFamily="34" charset="0"/>
              </a:rPr>
              <a:t>#697255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Google Shape;148;p10">
            <a:extLst>
              <a:ext uri="{FF2B5EF4-FFF2-40B4-BE49-F238E27FC236}">
                <a16:creationId xmlns:a16="http://schemas.microsoft.com/office/drawing/2014/main" id="{BCA500C1-0DB9-67D3-1352-AB1CCC84230B}"/>
              </a:ext>
            </a:extLst>
          </p:cNvPr>
          <p:cNvSpPr/>
          <p:nvPr/>
        </p:nvSpPr>
        <p:spPr>
          <a:xfrm>
            <a:off x="893276" y="3497439"/>
            <a:ext cx="1239600" cy="270900"/>
          </a:xfrm>
          <a:prstGeom prst="roundRect">
            <a:avLst>
              <a:gd name="adj" fmla="val 16667"/>
            </a:avLst>
          </a:prstGeom>
          <a:solidFill>
            <a:srgbClr val="EBEBEB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>
                <a:latin typeface="Arial" panose="020B0604020202020204" pitchFamily="34" charset="0"/>
                <a:cs typeface="Arial" panose="020B0604020202020204" pitchFamily="34" charset="0"/>
              </a:rPr>
              <a:t>#F5F5F5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Google Shape;149;p10">
            <a:extLst>
              <a:ext uri="{FF2B5EF4-FFF2-40B4-BE49-F238E27FC236}">
                <a16:creationId xmlns:a16="http://schemas.microsoft.com/office/drawing/2014/main" id="{EAC541E1-1FB3-5126-2054-FE62449A5AA3}"/>
              </a:ext>
            </a:extLst>
          </p:cNvPr>
          <p:cNvSpPr/>
          <p:nvPr/>
        </p:nvSpPr>
        <p:spPr>
          <a:xfrm>
            <a:off x="893275" y="2953839"/>
            <a:ext cx="1239600" cy="325800"/>
          </a:xfrm>
          <a:prstGeom prst="roundRect">
            <a:avLst>
              <a:gd name="adj" fmla="val 16667"/>
            </a:avLst>
          </a:prstGeom>
          <a:solidFill>
            <a:srgbClr val="B56D4B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>
                <a:latin typeface="Arial" panose="020B0604020202020204" pitchFamily="34" charset="0"/>
                <a:cs typeface="Arial" panose="020B0604020202020204" pitchFamily="34" charset="0"/>
              </a:rPr>
              <a:t>#B66D4C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Google Shape;150;p10">
            <a:extLst>
              <a:ext uri="{FF2B5EF4-FFF2-40B4-BE49-F238E27FC236}">
                <a16:creationId xmlns:a16="http://schemas.microsoft.com/office/drawing/2014/main" id="{815A3166-37F6-5CE3-BA70-3C2658EC120D}"/>
              </a:ext>
            </a:extLst>
          </p:cNvPr>
          <p:cNvSpPr txBox="1"/>
          <p:nvPr/>
        </p:nvSpPr>
        <p:spPr>
          <a:xfrm>
            <a:off x="838200" y="1493129"/>
            <a:ext cx="6096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497A"/>
              </a:buClr>
              <a:buSzPts val="2300"/>
              <a:buFont typeface="Arial"/>
              <a:buNone/>
            </a:pPr>
            <a:r>
              <a:rPr lang="ru-RU" sz="230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Цветовая палитра: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Google Shape;151;p10">
            <a:extLst>
              <a:ext uri="{FF2B5EF4-FFF2-40B4-BE49-F238E27FC236}">
                <a16:creationId xmlns:a16="http://schemas.microsoft.com/office/drawing/2014/main" id="{8FF6DC7D-DCF1-1372-BF52-436882392D41}"/>
              </a:ext>
            </a:extLst>
          </p:cNvPr>
          <p:cNvSpPr/>
          <p:nvPr/>
        </p:nvSpPr>
        <p:spPr>
          <a:xfrm>
            <a:off x="893167" y="4098001"/>
            <a:ext cx="1239600" cy="3258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07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#FFFFFFF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Google Shape;152;p10">
            <a:extLst>
              <a:ext uri="{FF2B5EF4-FFF2-40B4-BE49-F238E27FC236}">
                <a16:creationId xmlns:a16="http://schemas.microsoft.com/office/drawing/2014/main" id="{7298AECE-18CE-6DBB-C40A-B5B8CDBA33E6}"/>
              </a:ext>
            </a:extLst>
          </p:cNvPr>
          <p:cNvSpPr txBox="1"/>
          <p:nvPr/>
        </p:nvSpPr>
        <p:spPr>
          <a:xfrm>
            <a:off x="2290822" y="2326101"/>
            <a:ext cx="38931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>
                <a:latin typeface="Arial" panose="020B0604020202020204" pitchFamily="34" charset="0"/>
                <a:cs typeface="Arial" panose="020B0604020202020204" pitchFamily="34" charset="0"/>
              </a:rPr>
              <a:t>Тростниково-зеленый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Google Shape;153;p10">
            <a:extLst>
              <a:ext uri="{FF2B5EF4-FFF2-40B4-BE49-F238E27FC236}">
                <a16:creationId xmlns:a16="http://schemas.microsoft.com/office/drawing/2014/main" id="{C91832CE-B523-C572-E4E0-A729CA4CBFD1}"/>
              </a:ext>
            </a:extLst>
          </p:cNvPr>
          <p:cNvSpPr txBox="1"/>
          <p:nvPr/>
        </p:nvSpPr>
        <p:spPr>
          <a:xfrm>
            <a:off x="2290822" y="3405114"/>
            <a:ext cx="30000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>
                <a:latin typeface="Arial" panose="020B0604020202020204" pitchFamily="34" charset="0"/>
                <a:cs typeface="Arial" panose="020B0604020202020204" pitchFamily="34" charset="0"/>
              </a:rPr>
              <a:t>Дымчато-белый 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Google Shape;154;p10">
            <a:extLst>
              <a:ext uri="{FF2B5EF4-FFF2-40B4-BE49-F238E27FC236}">
                <a16:creationId xmlns:a16="http://schemas.microsoft.com/office/drawing/2014/main" id="{BFAB5665-8454-45E5-0AC0-AB0F00B148A9}"/>
              </a:ext>
            </a:extLst>
          </p:cNvPr>
          <p:cNvSpPr txBox="1"/>
          <p:nvPr/>
        </p:nvSpPr>
        <p:spPr>
          <a:xfrm>
            <a:off x="2290822" y="2865039"/>
            <a:ext cx="43677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>
                <a:latin typeface="Arial" panose="020B0604020202020204" pitchFamily="34" charset="0"/>
                <a:cs typeface="Arial" panose="020B0604020202020204" pitchFamily="34" charset="0"/>
              </a:rPr>
              <a:t>Коричневый Крайола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155;p10">
            <a:extLst>
              <a:ext uri="{FF2B5EF4-FFF2-40B4-BE49-F238E27FC236}">
                <a16:creationId xmlns:a16="http://schemas.microsoft.com/office/drawing/2014/main" id="{782355E7-514B-7C5D-C214-726D8461EFBB}"/>
              </a:ext>
            </a:extLst>
          </p:cNvPr>
          <p:cNvSpPr txBox="1"/>
          <p:nvPr/>
        </p:nvSpPr>
        <p:spPr>
          <a:xfrm>
            <a:off x="2290822" y="3945189"/>
            <a:ext cx="3000000" cy="63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2300">
                <a:latin typeface="Arial" panose="020B0604020202020204" pitchFamily="34" charset="0"/>
                <a:cs typeface="Arial" panose="020B0604020202020204" pitchFamily="34" charset="0"/>
              </a:rPr>
              <a:t>Белый </a:t>
            </a: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Google Shape;156;p10">
            <a:extLst>
              <a:ext uri="{FF2B5EF4-FFF2-40B4-BE49-F238E27FC236}">
                <a16:creationId xmlns:a16="http://schemas.microsoft.com/office/drawing/2014/main" id="{65CC09BE-340C-68EB-5561-B108653E24B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620" t="-1100" r="-1620" b="1100"/>
          <a:stretch/>
        </p:blipFill>
        <p:spPr>
          <a:xfrm>
            <a:off x="6449875" y="416403"/>
            <a:ext cx="2590800" cy="569014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624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2;p11">
            <a:extLst>
              <a:ext uri="{FF2B5EF4-FFF2-40B4-BE49-F238E27FC236}">
                <a16:creationId xmlns:a16="http://schemas.microsoft.com/office/drawing/2014/main" id="{9614D6CE-1EB8-4B83-B510-E291395A932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88205" y="6271576"/>
            <a:ext cx="3286760" cy="442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</a:t>
            </a:fld>
            <a:endParaRPr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Google Shape;163;p11">
            <a:extLst>
              <a:ext uri="{FF2B5EF4-FFF2-40B4-BE49-F238E27FC236}">
                <a16:creationId xmlns:a16="http://schemas.microsoft.com/office/drawing/2014/main" id="{5BFD0370-4ED5-C2DE-6835-069590B1360D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>
                <a:latin typeface="Arial" panose="020B0604020202020204" pitchFamily="34" charset="0"/>
                <a:cs typeface="Arial" panose="020B0604020202020204" pitchFamily="34" charset="0"/>
              </a:rPr>
              <a:t>Экраны авторизации</a:t>
            </a:r>
          </a:p>
        </p:txBody>
      </p:sp>
      <p:pic>
        <p:nvPicPr>
          <p:cNvPr id="5" name="Google Shape;164;p11" title="l2MCp2JhVvhszM5LwhwN3o6XAui8cZw858wRYOkHY_HYoYyF0tysI2LRUnyuCdDymwdzg-8Hp-oZl7sjSilGOGIq.jpg">
            <a:extLst>
              <a:ext uri="{FF2B5EF4-FFF2-40B4-BE49-F238E27FC236}">
                <a16:creationId xmlns:a16="http://schemas.microsoft.com/office/drawing/2014/main" id="{B356890B-80EB-4B62-EE39-19A16F5D2D3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30" b="20"/>
          <a:stretch/>
        </p:blipFill>
        <p:spPr>
          <a:xfrm>
            <a:off x="4981829" y="1062843"/>
            <a:ext cx="2228342" cy="4894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65;p11" title="ft4W1qRF7HRIZPJrHq9lrFCG3cG0L90NePlYK3ZMJJTzD3t8PlxbUOgrgB-vOpVvYWlqeIX7K2-nMIv-msGfJ1YO.jpg">
            <a:extLst>
              <a:ext uri="{FF2B5EF4-FFF2-40B4-BE49-F238E27FC236}">
                <a16:creationId xmlns:a16="http://schemas.microsoft.com/office/drawing/2014/main" id="{B939ABB5-B914-7334-4C47-E49C85EDA0F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30" b="20"/>
          <a:stretch/>
        </p:blipFill>
        <p:spPr>
          <a:xfrm>
            <a:off x="1631302" y="1074028"/>
            <a:ext cx="2228342" cy="4894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66;p11" title="yP9sdhc4IzRUHMlvIQWs7uKd7ElFp48hIJXPpyT6Q6P3Biox-amv7FD3KNGLBtdp5850liRymQJHEw6roo6nx7Zk.jpg">
            <a:extLst>
              <a:ext uri="{FF2B5EF4-FFF2-40B4-BE49-F238E27FC236}">
                <a16:creationId xmlns:a16="http://schemas.microsoft.com/office/drawing/2014/main" id="{CEF5D5AA-E4E4-1AD0-B343-6965AF18909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30" b="20"/>
          <a:stretch/>
        </p:blipFill>
        <p:spPr>
          <a:xfrm>
            <a:off x="8330801" y="1074028"/>
            <a:ext cx="2228342" cy="4894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38977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72;p12">
            <a:extLst>
              <a:ext uri="{FF2B5EF4-FFF2-40B4-BE49-F238E27FC236}">
                <a16:creationId xmlns:a16="http://schemas.microsoft.com/office/drawing/2014/main" id="{66581FA5-FBC4-7261-DDCD-22E60DECE33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fld>
            <a:endParaRPr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Google Shape;173;p12">
            <a:extLst>
              <a:ext uri="{FF2B5EF4-FFF2-40B4-BE49-F238E27FC236}">
                <a16:creationId xmlns:a16="http://schemas.microsoft.com/office/drawing/2014/main" id="{F1D3D133-B7E7-1344-25DB-1B80C37CA510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>
                <a:latin typeface="Arial" panose="020B0604020202020204" pitchFamily="34" charset="0"/>
                <a:cs typeface="Arial" panose="020B0604020202020204" pitchFamily="34" charset="0"/>
              </a:rPr>
              <a:t>Основные экраны</a:t>
            </a:r>
          </a:p>
        </p:txBody>
      </p:sp>
      <p:pic>
        <p:nvPicPr>
          <p:cNvPr id="5" name="Google Shape;174;p12">
            <a:extLst>
              <a:ext uri="{FF2B5EF4-FFF2-40B4-BE49-F238E27FC236}">
                <a16:creationId xmlns:a16="http://schemas.microsoft.com/office/drawing/2014/main" id="{072A6B84-E6E2-65AA-BD4B-8C5AF821319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75922" y="1074028"/>
            <a:ext cx="2228350" cy="4894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75;p12">
            <a:extLst>
              <a:ext uri="{FF2B5EF4-FFF2-40B4-BE49-F238E27FC236}">
                <a16:creationId xmlns:a16="http://schemas.microsoft.com/office/drawing/2014/main" id="{21C9AB45-6B29-EE2C-2521-D95B0CD5031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82263" y="1074066"/>
            <a:ext cx="2228325" cy="48940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76;p12">
            <a:extLst>
              <a:ext uri="{FF2B5EF4-FFF2-40B4-BE49-F238E27FC236}">
                <a16:creationId xmlns:a16="http://schemas.microsoft.com/office/drawing/2014/main" id="{B073929A-11CC-6D1F-1168-32C361AF6DC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25447" y="1074028"/>
            <a:ext cx="2228351" cy="4894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77;p12">
            <a:extLst>
              <a:ext uri="{FF2B5EF4-FFF2-40B4-BE49-F238E27FC236}">
                <a16:creationId xmlns:a16="http://schemas.microsoft.com/office/drawing/2014/main" id="{1914963E-834B-0398-F23E-D74E38A8B1C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81397" y="1074070"/>
            <a:ext cx="2228325" cy="48940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40161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83;p13">
            <a:extLst>
              <a:ext uri="{FF2B5EF4-FFF2-40B4-BE49-F238E27FC236}">
                <a16:creationId xmlns:a16="http://schemas.microsoft.com/office/drawing/2014/main" id="{0548F77D-024B-F6C5-4264-2526BDDCA98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fld>
            <a:endParaRPr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Google Shape;184;p13">
            <a:extLst>
              <a:ext uri="{FF2B5EF4-FFF2-40B4-BE49-F238E27FC236}">
                <a16:creationId xmlns:a16="http://schemas.microsoft.com/office/drawing/2014/main" id="{6FB9703A-FF9A-000F-1549-2A26868FCA42}"/>
              </a:ext>
            </a:extLst>
          </p:cNvPr>
          <p:cNvSpPr txBox="1">
            <a:spLocks/>
          </p:cNvSpPr>
          <p:nvPr/>
        </p:nvSpPr>
        <p:spPr>
          <a:xfrm>
            <a:off x="1033072" y="365126"/>
            <a:ext cx="8202474" cy="697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  <a:spcBef>
                <a:spcPts val="0"/>
              </a:spcBef>
              <a:buClr>
                <a:srgbClr val="00497A"/>
              </a:buClr>
              <a:buSzPts val="3200"/>
              <a:buFont typeface="Arial"/>
              <a:buNone/>
            </a:pPr>
            <a:r>
              <a:rPr lang="ru-RU">
                <a:latin typeface="Arial" panose="020B0604020202020204" pitchFamily="34" charset="0"/>
                <a:cs typeface="Arial" panose="020B0604020202020204" pitchFamily="34" charset="0"/>
              </a:rPr>
              <a:t>Заключение</a:t>
            </a:r>
          </a:p>
        </p:txBody>
      </p:sp>
      <p:sp>
        <p:nvSpPr>
          <p:cNvPr id="5" name="Google Shape;185;p13">
            <a:extLst>
              <a:ext uri="{FF2B5EF4-FFF2-40B4-BE49-F238E27FC236}">
                <a16:creationId xmlns:a16="http://schemas.microsoft.com/office/drawing/2014/main" id="{B5A52987-F053-1AC8-8F26-53A6D1B36963}"/>
              </a:ext>
            </a:extLst>
          </p:cNvPr>
          <p:cNvSpPr txBox="1"/>
          <p:nvPr/>
        </p:nvSpPr>
        <p:spPr>
          <a:xfrm>
            <a:off x="838200" y="1679512"/>
            <a:ext cx="10582469" cy="1785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dirty="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	В результате выполнения работы было разработано мобильное приложение «</a:t>
            </a:r>
            <a:r>
              <a:rPr lang="ru-RU" sz="2300" b="0" i="0" dirty="0" err="1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Pet</a:t>
            </a:r>
            <a:r>
              <a:rPr lang="ru-RU" sz="2300" b="0" i="0" dirty="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 </a:t>
            </a:r>
            <a:r>
              <a:rPr lang="ru-RU" sz="2300" b="0" i="0" dirty="0" err="1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Diary</a:t>
            </a:r>
            <a:r>
              <a:rPr lang="ru-RU" sz="2300" b="0" i="0" dirty="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», которое полностью соответствует поставленным целям и задачам.</a:t>
            </a:r>
            <a:r>
              <a:rPr lang="ru-RU" sz="1800" dirty="0">
                <a:latin typeface="Arial" panose="020B0604020202020204" pitchFamily="34" charset="0"/>
                <a:ea typeface="Times New Roman"/>
                <a:cs typeface="Arial" panose="020B0604020202020204" pitchFamily="34" charset="0"/>
                <a:sym typeface="Times New Roman"/>
              </a:rPr>
              <a:t> 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Arial" panose="020B0604020202020204" pitchFamily="34" charset="0"/>
              <a:ea typeface="Times New Roman"/>
              <a:cs typeface="Arial" panose="020B0604020202020204" pitchFamily="34" charset="0"/>
              <a:sym typeface="Times New Roman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dirty="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	</a:t>
            </a:r>
            <a:endParaRPr sz="2300" dirty="0"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2" name="Google Shape;89;p6">
            <a:extLst>
              <a:ext uri="{FF2B5EF4-FFF2-40B4-BE49-F238E27FC236}">
                <a16:creationId xmlns:a16="http://schemas.microsoft.com/office/drawing/2014/main" id="{BAF7F9CB-01CD-E97D-E0D8-A0048D83CB0B}"/>
              </a:ext>
            </a:extLst>
          </p:cNvPr>
          <p:cNvSpPr txBox="1"/>
          <p:nvPr/>
        </p:nvSpPr>
        <p:spPr>
          <a:xfrm>
            <a:off x="1407166" y="3379653"/>
            <a:ext cx="10078800" cy="49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dirty="0">
                <a:latin typeface="Arial" panose="020B0604020202020204" pitchFamily="34" charset="0"/>
                <a:ea typeface="Courier New" panose="02070309020205020404" pitchFamily="49" charset="0"/>
                <a:cs typeface="Arial" panose="020B0604020202020204" pitchFamily="34" charset="0"/>
              </a:rPr>
              <a:t>Был проанализирован</a:t>
            </a:r>
            <a:r>
              <a:rPr lang="ru-RU" sz="2300" dirty="0">
                <a:effectLst/>
                <a:latin typeface="Arial" panose="020B0604020202020204" pitchFamily="34" charset="0"/>
                <a:ea typeface="Courier New" panose="02070309020205020404" pitchFamily="49" charset="0"/>
                <a:cs typeface="Arial" panose="020B0604020202020204" pitchFamily="34" charset="0"/>
              </a:rPr>
              <a:t> рынок мобильных приложений для владельцев;</a:t>
            </a:r>
            <a:endParaRPr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Google Shape;90;p6">
            <a:extLst>
              <a:ext uri="{FF2B5EF4-FFF2-40B4-BE49-F238E27FC236}">
                <a16:creationId xmlns:a16="http://schemas.microsoft.com/office/drawing/2014/main" id="{267B54EA-DA71-F7E2-659B-3F31E732820C}"/>
              </a:ext>
            </a:extLst>
          </p:cNvPr>
          <p:cNvSpPr txBox="1"/>
          <p:nvPr/>
        </p:nvSpPr>
        <p:spPr>
          <a:xfrm>
            <a:off x="1332466" y="5211058"/>
            <a:ext cx="5918566" cy="446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dirty="0">
                <a:latin typeface="Arial" panose="020B0604020202020204" pitchFamily="34" charset="0"/>
                <a:cs typeface="Arial" panose="020B0604020202020204" pitchFamily="34" charset="0"/>
                <a:sym typeface="Arial"/>
              </a:rPr>
              <a:t>Реализованы основные функции.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Google Shape;91;p6">
            <a:extLst>
              <a:ext uri="{FF2B5EF4-FFF2-40B4-BE49-F238E27FC236}">
                <a16:creationId xmlns:a16="http://schemas.microsoft.com/office/drawing/2014/main" id="{52A25696-11A1-719E-93AF-95256F81C654}"/>
              </a:ext>
            </a:extLst>
          </p:cNvPr>
          <p:cNvSpPr txBox="1"/>
          <p:nvPr/>
        </p:nvSpPr>
        <p:spPr>
          <a:xfrm>
            <a:off x="1407166" y="4303644"/>
            <a:ext cx="8234139" cy="446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0" i="0" u="none" strike="noStrike" cap="none" dirty="0"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Спроектирована архитектура приложения и база данных;</a:t>
            </a:r>
            <a:endParaRPr sz="2300" b="0" i="0" u="none" strike="noStrike" cap="none" dirty="0">
              <a:latin typeface="Arial" panose="020B0604020202020204" pitchFamily="34" charset="0"/>
              <a:ea typeface="Arial"/>
              <a:cs typeface="Arial" panose="020B0604020202020204" pitchFamily="34" charset="0"/>
              <a:sym typeface="Arial"/>
            </a:endParaRPr>
          </a:p>
        </p:txBody>
      </p:sp>
      <p:sp>
        <p:nvSpPr>
          <p:cNvPr id="8" name="Google Shape;126;p8">
            <a:extLst>
              <a:ext uri="{FF2B5EF4-FFF2-40B4-BE49-F238E27FC236}">
                <a16:creationId xmlns:a16="http://schemas.microsoft.com/office/drawing/2014/main" id="{A60A00FA-7686-76FC-2B57-EEB1C5000A31}"/>
              </a:ext>
            </a:extLst>
          </p:cNvPr>
          <p:cNvSpPr/>
          <p:nvPr/>
        </p:nvSpPr>
        <p:spPr>
          <a:xfrm flipH="1">
            <a:off x="951090" y="3586504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Google Shape;126;p8">
            <a:extLst>
              <a:ext uri="{FF2B5EF4-FFF2-40B4-BE49-F238E27FC236}">
                <a16:creationId xmlns:a16="http://schemas.microsoft.com/office/drawing/2014/main" id="{363F81E7-2197-C370-6ABE-AEA7C0A4897B}"/>
              </a:ext>
            </a:extLst>
          </p:cNvPr>
          <p:cNvSpPr/>
          <p:nvPr/>
        </p:nvSpPr>
        <p:spPr>
          <a:xfrm flipH="1">
            <a:off x="951090" y="4447562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Google Shape;126;p8">
            <a:extLst>
              <a:ext uri="{FF2B5EF4-FFF2-40B4-BE49-F238E27FC236}">
                <a16:creationId xmlns:a16="http://schemas.microsoft.com/office/drawing/2014/main" id="{3BD8A43C-FC8B-4CEC-F50F-EDDDBE2F6A03}"/>
              </a:ext>
            </a:extLst>
          </p:cNvPr>
          <p:cNvSpPr/>
          <p:nvPr/>
        </p:nvSpPr>
        <p:spPr>
          <a:xfrm flipH="1">
            <a:off x="951090" y="5273866"/>
            <a:ext cx="154500" cy="158400"/>
          </a:xfrm>
          <a:prstGeom prst="ellipse">
            <a:avLst/>
          </a:prstGeom>
          <a:solidFill>
            <a:schemeClr val="tx1"/>
          </a:solidFill>
          <a:ln>
            <a:noFill/>
          </a:ln>
          <a:effectLst>
            <a:outerShdw blurRad="203040" dist="75967" dir="5448874" sx="102000" sy="102000" algn="ctr" rotWithShape="0">
              <a:srgbClr val="BFBFBF">
                <a:alpha val="5098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1513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3983F3-4292-7D7C-42A4-1DB0A7410BAA}"/>
              </a:ext>
            </a:extLst>
          </p:cNvPr>
          <p:cNvSpPr txBox="1"/>
          <p:nvPr/>
        </p:nvSpPr>
        <p:spPr>
          <a:xfrm>
            <a:off x="2045368" y="2725830"/>
            <a:ext cx="81012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5400" dirty="0">
                <a:latin typeface="Arial" panose="020B0604020202020204" pitchFamily="34" charset="0"/>
                <a:cs typeface="Arial" panose="020B0604020202020204" pitchFamily="34" charset="0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44064944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254</Words>
  <Application>Microsoft Office PowerPoint</Application>
  <PresentationFormat>Широкоэкранный</PresentationFormat>
  <Paragraphs>61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katrin</dc:creator>
  <cp:lastModifiedBy>katrin</cp:lastModifiedBy>
  <cp:revision>4</cp:revision>
  <dcterms:created xsi:type="dcterms:W3CDTF">2026-06-06T08:30:55Z</dcterms:created>
  <dcterms:modified xsi:type="dcterms:W3CDTF">2026-06-08T10:50:10Z</dcterms:modified>
</cp:coreProperties>
</file>